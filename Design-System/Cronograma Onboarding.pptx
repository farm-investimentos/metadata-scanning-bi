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76" r:id="rId3"/>
    <p:sldId id="268" r:id="rId4"/>
    <p:sldId id="269" r:id="rId5"/>
    <p:sldId id="270" r:id="rId6"/>
    <p:sldId id="273" r:id="rId7"/>
    <p:sldId id="274" r:id="rId8"/>
    <p:sldId id="275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2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bg>
      <p:bgPr>
        <a:solidFill>
          <a:srgbClr val="0023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A78715-DD59-C041-C7BA-D999CF58F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C9FFB1-C2F5-7DE2-4AF0-ADE808D56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44732A-267E-273A-9A47-7D0AAD688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446EB-6FE6-4769-9550-92C5B6561848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DF4A54-6078-FCB3-3521-D22C6897F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1A2F3A-A4BB-6669-1D7A-8FA765FB6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F144E-6F2C-4D28-AD17-26FC3E616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2392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bg>
      <p:bgPr>
        <a:solidFill>
          <a:srgbClr val="0023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D332B3-E674-3318-FF79-84CF0432B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FE4FA4-4C9B-1DE6-85A3-FEAE79673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D4B2BB-29D5-2F51-F5F3-5271827D0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446EB-6FE6-4769-9550-92C5B6561848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62CEAC-A125-972E-5076-3F9CB2266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4B4371-78E9-324B-375C-E331DADCE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F144E-6F2C-4D28-AD17-26FC3E616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532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bg>
      <p:bgPr>
        <a:solidFill>
          <a:srgbClr val="0023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EF3C14-0651-02A7-739B-5F8C8192A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A173AE-DBBA-7C5A-98BB-7250E637B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6F32D2-694D-48F0-992D-5DED98EE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446EB-6FE6-4769-9550-92C5B6561848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5F1FE8-E006-8D24-CB6F-910484E4A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D01383-F63E-EC64-6DFD-95298254B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F144E-6F2C-4D28-AD17-26FC3E616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9613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uas Partes de Conteúdo">
    <p:bg>
      <p:bgPr>
        <a:solidFill>
          <a:srgbClr val="0023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F9D331-7053-06C0-2EB2-8D12E288D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CEE80E-EB42-1B93-A1B7-80AA71F8BE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774C93A-9024-069B-15C0-B0D5AE4E1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A69023F-2E09-DA0A-895A-9BCBFC153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446EB-6FE6-4769-9550-92C5B6561848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BF85F8-3EF6-ECC8-2B13-64F2FADFB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28E791-FE96-99F5-3253-34766C10E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F144E-6F2C-4D28-AD17-26FC3E616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7715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ção">
    <p:bg>
      <p:bgPr>
        <a:solidFill>
          <a:srgbClr val="0023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9D472-35CF-E72E-6064-217B731FF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09CD3F-0F36-41A6-55F7-A7B546282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DF6F3F-69A4-9A74-9A1C-9B2585CFD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2C62E8C-453A-BD34-0491-1BECFF0E69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DA04563-A03A-B458-2E90-2F810B122F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0351B71-71DA-856B-C1EF-272F21C2A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446EB-6FE6-4769-9550-92C5B6561848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ED87FE7-FAB1-3E67-5B5C-848177495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11E0BF3-2DFB-6B53-DCA7-1C0DB53D1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F144E-6F2C-4D28-AD17-26FC3E616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0482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mente Título">
    <p:bg>
      <p:bgPr>
        <a:solidFill>
          <a:srgbClr val="0023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414B0A-5E62-85CA-7185-4083E179F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69AAC15-7EB0-5F32-B355-E8F802718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446EB-6FE6-4769-9550-92C5B6561848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3FED863-0698-C13F-9F6D-6D6EF9B48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1C2BB9E-A7DC-EF58-73E3-9AA02AFFF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F144E-6F2C-4D28-AD17-26FC3E616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2245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bg>
      <p:bgPr>
        <a:solidFill>
          <a:srgbClr val="0023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B9FE3C-8289-319E-853F-230BE4495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446EB-6FE6-4769-9550-92C5B6561848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E454D4C-6529-F00C-A33C-6F1BE8225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9A5743-2EE3-107C-3310-9BC2E6DDD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F144E-6F2C-4D28-AD17-26FC3E616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891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údo com Legenda">
    <p:bg>
      <p:bgPr>
        <a:solidFill>
          <a:srgbClr val="0023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796C0-298C-842E-AA9B-A1A5E34FE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13DC6A-B347-56DA-980B-B049ABA1B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AF9F1AA-B8B9-DC18-61E6-78A72025D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C6C203-63CE-FAA7-2A08-D7243EE38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446EB-6FE6-4769-9550-92C5B6561848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40A42F-C566-7E18-A704-A36D232AE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847F280-5C86-979B-9C15-975687CF1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F144E-6F2C-4D28-AD17-26FC3E616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1829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m com Legenda">
    <p:bg>
      <p:bgPr>
        <a:solidFill>
          <a:srgbClr val="0023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D88929-EA4A-D59A-4380-3E4FD91BD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654682B-F469-A0ED-FCEC-5741F42C936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D53B620-3799-317B-80F5-32A9DB773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8B2C079-8786-A9FE-131F-94FA628F7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446EB-6FE6-4769-9550-92C5B6561848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43AD29-9EFE-0904-4533-7FE7529B0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087FA6-06A4-F38A-3805-97F72AB42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F144E-6F2C-4D28-AD17-26FC3E616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2167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e Texto Vertical">
    <p:bg>
      <p:bgPr>
        <a:solidFill>
          <a:srgbClr val="0023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357B0-5FF1-3249-FA8B-141581A4A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D26766D-57B1-1312-7133-5F0C7E468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D3A6AF-C5E7-91F7-C8BE-7F0941E89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446EB-6FE6-4769-9550-92C5B6561848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3D4671-7B0C-1FCA-890F-9B8E20AD5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5BFA9C-E217-1A72-02A7-529695A87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F144E-6F2C-4D28-AD17-26FC3E616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411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exto e Título Vertical">
    <p:bg>
      <p:bgPr>
        <a:solidFill>
          <a:srgbClr val="0023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88EB821-6F7A-8C25-B726-8E4277D1FA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041A2CB-D34A-231D-D353-672249773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921A7E-BD5B-04B5-8F1F-987DEA2E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446EB-6FE6-4769-9550-92C5B6561848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CFB988-BD89-FE51-9237-64C959B6B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AC1576-E9E0-74BC-BF35-A6587D35D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F144E-6F2C-4D28-AD17-26FC3E616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9337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3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C692176-E0C8-A7A0-D546-0A02FEE40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2165AA-D5D4-B146-48DC-22C07FEC8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DEE2FD-191B-3BBE-DFB1-D8C24EF07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6446EB-6FE6-4769-9550-92C5B6561848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F164D3-5636-C94F-05DD-63EC5215D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DE27B-7FBC-0C8F-0927-28AEF2BEE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7F144E-6F2C-4D28-AD17-26FC3E6161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4421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558800" y="457200"/>
            <a:ext cx="9525" cy="5943600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01" name="s101"/>
          <p:cNvSpPr/>
          <p:nvPr/>
        </p:nvSpPr>
        <p:spPr>
          <a:xfrm>
            <a:off x="1320800" y="457200"/>
            <a:ext cx="9525" cy="5943600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02" name="s102"/>
          <p:cNvSpPr/>
          <p:nvPr/>
        </p:nvSpPr>
        <p:spPr>
          <a:xfrm>
            <a:off x="2082800" y="457200"/>
            <a:ext cx="9525" cy="5943600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03" name="s103"/>
          <p:cNvSpPr/>
          <p:nvPr/>
        </p:nvSpPr>
        <p:spPr>
          <a:xfrm>
            <a:off x="2844800" y="457200"/>
            <a:ext cx="9525" cy="5943600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04" name="s104"/>
          <p:cNvSpPr/>
          <p:nvPr/>
        </p:nvSpPr>
        <p:spPr>
          <a:xfrm>
            <a:off x="3606800" y="457200"/>
            <a:ext cx="9525" cy="5943600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05" name="s105"/>
          <p:cNvSpPr/>
          <p:nvPr/>
        </p:nvSpPr>
        <p:spPr>
          <a:xfrm>
            <a:off x="4368800" y="457200"/>
            <a:ext cx="9525" cy="5943600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06" name="s106"/>
          <p:cNvSpPr/>
          <p:nvPr/>
        </p:nvSpPr>
        <p:spPr>
          <a:xfrm>
            <a:off x="5130800" y="457200"/>
            <a:ext cx="9525" cy="5943600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07" name="s107"/>
          <p:cNvSpPr/>
          <p:nvPr/>
        </p:nvSpPr>
        <p:spPr>
          <a:xfrm>
            <a:off x="5892800" y="457200"/>
            <a:ext cx="9525" cy="5943600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08" name="s108"/>
          <p:cNvSpPr/>
          <p:nvPr/>
        </p:nvSpPr>
        <p:spPr>
          <a:xfrm>
            <a:off x="6654800" y="457200"/>
            <a:ext cx="9525" cy="5943600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09" name="s109"/>
          <p:cNvSpPr/>
          <p:nvPr/>
        </p:nvSpPr>
        <p:spPr>
          <a:xfrm>
            <a:off x="7416800" y="457200"/>
            <a:ext cx="9525" cy="5943600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10" name="s110"/>
          <p:cNvSpPr/>
          <p:nvPr/>
        </p:nvSpPr>
        <p:spPr>
          <a:xfrm>
            <a:off x="8178800" y="457200"/>
            <a:ext cx="9525" cy="5943600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11" name="s111"/>
          <p:cNvSpPr/>
          <p:nvPr/>
        </p:nvSpPr>
        <p:spPr>
          <a:xfrm>
            <a:off x="8940800" y="457200"/>
            <a:ext cx="9525" cy="5943600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12" name="s112"/>
          <p:cNvSpPr/>
          <p:nvPr/>
        </p:nvSpPr>
        <p:spPr>
          <a:xfrm>
            <a:off x="9702800" y="457200"/>
            <a:ext cx="9525" cy="5943600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13" name="s113"/>
          <p:cNvSpPr/>
          <p:nvPr/>
        </p:nvSpPr>
        <p:spPr>
          <a:xfrm>
            <a:off x="10464800" y="457200"/>
            <a:ext cx="9525" cy="5943600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14" name="s114"/>
          <p:cNvSpPr/>
          <p:nvPr/>
        </p:nvSpPr>
        <p:spPr>
          <a:xfrm>
            <a:off x="11226800" y="457200"/>
            <a:ext cx="9525" cy="5943600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15" name="s115"/>
          <p:cNvSpPr/>
          <p:nvPr/>
        </p:nvSpPr>
        <p:spPr>
          <a:xfrm>
            <a:off x="558800" y="457200"/>
            <a:ext cx="11125200" cy="9525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16" name="s116"/>
          <p:cNvSpPr/>
          <p:nvPr/>
        </p:nvSpPr>
        <p:spPr>
          <a:xfrm>
            <a:off x="558800" y="1219200"/>
            <a:ext cx="11125200" cy="9525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17" name="s117"/>
          <p:cNvSpPr/>
          <p:nvPr/>
        </p:nvSpPr>
        <p:spPr>
          <a:xfrm>
            <a:off x="558800" y="1981200"/>
            <a:ext cx="11125200" cy="9525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18" name="s118"/>
          <p:cNvSpPr/>
          <p:nvPr/>
        </p:nvSpPr>
        <p:spPr>
          <a:xfrm>
            <a:off x="558800" y="2743200"/>
            <a:ext cx="11125200" cy="9525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19" name="s119"/>
          <p:cNvSpPr/>
          <p:nvPr/>
        </p:nvSpPr>
        <p:spPr>
          <a:xfrm>
            <a:off x="558800" y="3505200"/>
            <a:ext cx="11125200" cy="9525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20" name="s120"/>
          <p:cNvSpPr/>
          <p:nvPr/>
        </p:nvSpPr>
        <p:spPr>
          <a:xfrm>
            <a:off x="558800" y="4267200"/>
            <a:ext cx="11125200" cy="9525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21" name="s121"/>
          <p:cNvSpPr/>
          <p:nvPr/>
        </p:nvSpPr>
        <p:spPr>
          <a:xfrm>
            <a:off x="558800" y="5029200"/>
            <a:ext cx="11125200" cy="9525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22" name="s122"/>
          <p:cNvSpPr/>
          <p:nvPr/>
        </p:nvSpPr>
        <p:spPr>
          <a:xfrm>
            <a:off x="558800" y="5791200"/>
            <a:ext cx="11125200" cy="9525"/>
          </a:xfrm>
          <a:prstGeom prst="rect">
            <a:avLst/>
          </a:prstGeom>
          <a:solidFill>
            <a:srgbClr val="9BE8A8">
              <a:alpha val="6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23" name="s123"/>
          <p:cNvSpPr/>
          <p:nvPr/>
        </p:nvSpPr>
        <p:spPr>
          <a:xfrm>
            <a:off x="8636000" y="-762000"/>
            <a:ext cx="5334000" cy="5334000"/>
          </a:xfrm>
          <a:prstGeom prst="ellipse">
            <a:avLst/>
          </a:prstGeom>
          <a:gradFill>
            <a:gsLst>
              <a:gs pos="0">
                <a:srgbClr val="61E33D">
                  <a:alpha val="32000"/>
                </a:srgbClr>
              </a:gs>
              <a:gs pos="100000">
                <a:srgbClr val="61E33D">
                  <a:alpha val="0"/>
                </a:srgbClr>
              </a:gs>
            </a:gsLst>
            <a:path path="circle"/>
          </a:gradFill>
          <a:ln>
            <a:noFill/>
          </a:ln>
          <a:effectLst>
            <a:blur rad="457200"/>
          </a:effectLst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24" name="s124"/>
          <p:cNvSpPr/>
          <p:nvPr/>
        </p:nvSpPr>
        <p:spPr>
          <a:xfrm>
            <a:off x="-1524000" y="3302000"/>
            <a:ext cx="4826000" cy="4826000"/>
          </a:xfrm>
          <a:prstGeom prst="ellipse">
            <a:avLst/>
          </a:prstGeom>
          <a:gradFill>
            <a:gsLst>
              <a:gs pos="0">
                <a:srgbClr val="4F8406">
                  <a:alpha val="26000"/>
                </a:srgbClr>
              </a:gs>
              <a:gs pos="100000">
                <a:srgbClr val="4F8406">
                  <a:alpha val="0"/>
                </a:srgbClr>
              </a:gs>
            </a:gsLst>
            <a:path path="circle"/>
          </a:gradFill>
          <a:ln>
            <a:noFill/>
          </a:ln>
          <a:effectLst>
            <a:blur rad="457200"/>
          </a:effectLst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25" name="s125"/>
          <p:cNvSpPr/>
          <p:nvPr/>
        </p:nvSpPr>
        <p:spPr>
          <a:xfrm>
            <a:off x="558800" y="457200"/>
            <a:ext cx="50800" cy="5943600"/>
          </a:xfrm>
          <a:prstGeom prst="rect">
            <a:avLst/>
          </a:prstGeom>
          <a:gradFill>
            <a:gsLst>
              <a:gs pos="0">
                <a:srgbClr val="61E33D"/>
              </a:gs>
              <a:gs pos="100000">
                <a:srgbClr val="61E33D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26" name="s126"/>
          <p:cNvSpPr/>
          <p:nvPr/>
        </p:nvSpPr>
        <p:spPr>
          <a:xfrm>
            <a:off x="812800" y="1270000"/>
            <a:ext cx="3810000" cy="381000"/>
          </a:xfrm>
          <a:prstGeom prst="roundRect">
            <a:avLst>
              <a:gd name="adj" fmla="val 50000"/>
            </a:avLst>
          </a:prstGeom>
          <a:solidFill>
            <a:srgbClr val="61E33D">
              <a:alpha val="12000"/>
            </a:srgbClr>
          </a:solidFill>
          <a:ln w="9525">
            <a:solidFill>
              <a:srgbClr val="61E33D">
                <a:alpha val="40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1000" b="1" spc="80" dirty="0">
                <a:solidFill>
                  <a:srgbClr val="9BFF7A"/>
                </a:solidFill>
                <a:latin typeface="Poppins"/>
              </a:rPr>
              <a:t>DATA &amp; ANALYTICS</a:t>
            </a:r>
          </a:p>
        </p:txBody>
      </p:sp>
      <p:sp>
        <p:nvSpPr>
          <p:cNvPr id="127" name="s127"/>
          <p:cNvSpPr/>
          <p:nvPr/>
        </p:nvSpPr>
        <p:spPr>
          <a:xfrm>
            <a:off x="812800" y="2032000"/>
            <a:ext cx="105664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4400" b="1" dirty="0">
                <a:solidFill>
                  <a:srgbClr val="FFFFFF"/>
                </a:solidFill>
                <a:latin typeface="Poppins"/>
              </a:rPr>
              <a:t>Cronograma de </a:t>
            </a:r>
            <a:r>
              <a:rPr lang="pt-BR" sz="4400" b="1" dirty="0">
                <a:solidFill>
                  <a:srgbClr val="61E33D"/>
                </a:solidFill>
                <a:latin typeface="Poppins"/>
              </a:rPr>
              <a:t>Onboarding</a:t>
            </a:r>
          </a:p>
        </p:txBody>
      </p:sp>
      <p:sp>
        <p:nvSpPr>
          <p:cNvPr id="128" name="s128"/>
          <p:cNvSpPr/>
          <p:nvPr/>
        </p:nvSpPr>
        <p:spPr>
          <a:xfrm>
            <a:off x="812800" y="29210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0F7F3"/>
                </a:solidFill>
                <a:latin typeface="Aeonik"/>
              </a:rPr>
              <a:t>Trilha comum + trilhas individuais em 4 semanas, com pontos de encontro entre crédito e produtos analíticos.</a:t>
            </a:r>
          </a:p>
        </p:txBody>
      </p:sp>
      <p:sp>
        <p:nvSpPr>
          <p:cNvPr id="129" name="s129"/>
          <p:cNvSpPr/>
          <p:nvPr/>
        </p:nvSpPr>
        <p:spPr>
          <a:xfrm>
            <a:off x="812800" y="3683000"/>
            <a:ext cx="10566400" cy="12700"/>
          </a:xfrm>
          <a:prstGeom prst="rect">
            <a:avLst/>
          </a:prstGeom>
          <a:solidFill>
            <a:srgbClr val="9BE8A8">
              <a:alpha val="2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130" name="s130"/>
          <p:cNvSpPr/>
          <p:nvPr/>
        </p:nvSpPr>
        <p:spPr>
          <a:xfrm>
            <a:off x="812800" y="4064000"/>
            <a:ext cx="5080000" cy="101600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8000"/>
              </a:srgbClr>
            </a:solidFill>
          </a:ln>
        </p:spPr>
        <p:txBody>
          <a:bodyPr wrap="square" lIns="18" tIns="0" rIns="18" bIns="0" anchor="ctr">
            <a:noAutofit/>
          </a:bodyPr>
          <a:lstStyle/>
          <a:p>
            <a:pPr algn="l">
              <a:buNone/>
            </a:pPr>
            <a:r>
              <a:rPr lang="pt-BR" sz="800" b="1" spc="60" dirty="0">
                <a:solidFill>
                  <a:srgbClr val="9BFF7A"/>
                </a:solidFill>
                <a:latin typeface="Poppins"/>
              </a:rPr>
              <a:t>FERNANDA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800" b="1" dirty="0">
                <a:solidFill>
                  <a:srgbClr val="FFFFFF"/>
                </a:solidFill>
                <a:latin typeface="Poppins"/>
              </a:rPr>
              <a:t>Crédito &amp; Cobrança</a:t>
            </a:r>
          </a:p>
        </p:txBody>
      </p:sp>
      <p:sp>
        <p:nvSpPr>
          <p:cNvPr id="131" name="s131"/>
          <p:cNvSpPr/>
          <p:nvPr/>
        </p:nvSpPr>
        <p:spPr>
          <a:xfrm>
            <a:off x="6146800" y="4064000"/>
            <a:ext cx="5232400" cy="101600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8000"/>
              </a:srgbClr>
            </a:solidFill>
          </a:ln>
        </p:spPr>
        <p:txBody>
          <a:bodyPr wrap="square" lIns="18" tIns="0" rIns="18" bIns="0" anchor="ctr">
            <a:noAutofit/>
          </a:bodyPr>
          <a:lstStyle/>
          <a:p>
            <a:pPr algn="l">
              <a:buNone/>
            </a:pPr>
            <a:r>
              <a:rPr lang="pt-BR" sz="800" b="1" spc="60" dirty="0">
                <a:solidFill>
                  <a:srgbClr val="9BFF7A"/>
                </a:solidFill>
                <a:latin typeface="Poppins"/>
              </a:rPr>
              <a:t>DANIEL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800" b="1" dirty="0">
                <a:solidFill>
                  <a:srgbClr val="FFFFFF"/>
                </a:solidFill>
                <a:latin typeface="Poppins"/>
              </a:rPr>
              <a:t>Products Analytics</a:t>
            </a:r>
          </a:p>
        </p:txBody>
      </p:sp>
      <p:sp>
        <p:nvSpPr>
          <p:cNvPr id="132" name="s132"/>
          <p:cNvSpPr/>
          <p:nvPr/>
        </p:nvSpPr>
        <p:spPr>
          <a:xfrm>
            <a:off x="812800" y="5334000"/>
            <a:ext cx="10566400" cy="8890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8000"/>
              </a:srgbClr>
            </a:solidFill>
          </a:ln>
        </p:spPr>
        <p:txBody>
          <a:bodyPr wrap="square" lIns="20" tIns="0" rIns="20" bIns="0" anchor="ctr">
            <a:noAutofit/>
          </a:bodyPr>
          <a:lstStyle/>
          <a:p>
            <a:pPr algn="l">
              <a:buNone/>
            </a:pPr>
            <a:r>
              <a:rPr lang="pt-BR" sz="1000" b="1" spc="60" dirty="0">
                <a:solidFill>
                  <a:srgbClr val="E4EFE9"/>
                </a:solidFill>
                <a:latin typeface="Poppins"/>
              </a:rPr>
              <a:t>4 SEMANAS   ·   2 TRILHAS INDIVIDUAIS   ·   1 VISÃO COMPARTILHADA DE DADOS</a:t>
            </a:r>
          </a:p>
        </p:txBody>
      </p:sp>
    </p:spTree>
    <p:extLst>
      <p:ext uri="{BB962C8B-B14F-4D97-AF65-F5344CB8AC3E}">
        <p14:creationId xmlns:p14="http://schemas.microsoft.com/office/powerpoint/2010/main" val="380173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558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1320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2" name="s102"/>
          <p:cNvSpPr/>
          <p:nvPr/>
        </p:nvSpPr>
        <p:spPr>
          <a:xfrm>
            <a:off x="2082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3" name="s103"/>
          <p:cNvSpPr/>
          <p:nvPr/>
        </p:nvSpPr>
        <p:spPr>
          <a:xfrm>
            <a:off x="2844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4" name="s104"/>
          <p:cNvSpPr/>
          <p:nvPr/>
        </p:nvSpPr>
        <p:spPr>
          <a:xfrm>
            <a:off x="3606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5" name="s105"/>
          <p:cNvSpPr/>
          <p:nvPr/>
        </p:nvSpPr>
        <p:spPr>
          <a:xfrm>
            <a:off x="4368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6" name="s106"/>
          <p:cNvSpPr/>
          <p:nvPr/>
        </p:nvSpPr>
        <p:spPr>
          <a:xfrm>
            <a:off x="5130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7" name="s107"/>
          <p:cNvSpPr/>
          <p:nvPr/>
        </p:nvSpPr>
        <p:spPr>
          <a:xfrm>
            <a:off x="5892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8" name="s108"/>
          <p:cNvSpPr/>
          <p:nvPr/>
        </p:nvSpPr>
        <p:spPr>
          <a:xfrm>
            <a:off x="6654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9" name="s109"/>
          <p:cNvSpPr/>
          <p:nvPr/>
        </p:nvSpPr>
        <p:spPr>
          <a:xfrm>
            <a:off x="7416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0" name="s110"/>
          <p:cNvSpPr/>
          <p:nvPr/>
        </p:nvSpPr>
        <p:spPr>
          <a:xfrm>
            <a:off x="8178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1" name="s111"/>
          <p:cNvSpPr/>
          <p:nvPr/>
        </p:nvSpPr>
        <p:spPr>
          <a:xfrm>
            <a:off x="8940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2" name="s112"/>
          <p:cNvSpPr/>
          <p:nvPr/>
        </p:nvSpPr>
        <p:spPr>
          <a:xfrm>
            <a:off x="9702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3" name="s113"/>
          <p:cNvSpPr/>
          <p:nvPr/>
        </p:nvSpPr>
        <p:spPr>
          <a:xfrm>
            <a:off x="10464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4" name="s114"/>
          <p:cNvSpPr/>
          <p:nvPr/>
        </p:nvSpPr>
        <p:spPr>
          <a:xfrm>
            <a:off x="11226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5" name="s115"/>
          <p:cNvSpPr/>
          <p:nvPr/>
        </p:nvSpPr>
        <p:spPr>
          <a:xfrm>
            <a:off x="558800" y="457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6" name="s116"/>
          <p:cNvSpPr/>
          <p:nvPr/>
        </p:nvSpPr>
        <p:spPr>
          <a:xfrm>
            <a:off x="558800" y="1219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7" name="s117"/>
          <p:cNvSpPr/>
          <p:nvPr/>
        </p:nvSpPr>
        <p:spPr>
          <a:xfrm>
            <a:off x="558800" y="1981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8" name="s118"/>
          <p:cNvSpPr/>
          <p:nvPr/>
        </p:nvSpPr>
        <p:spPr>
          <a:xfrm>
            <a:off x="558800" y="2743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9" name="s119"/>
          <p:cNvSpPr/>
          <p:nvPr/>
        </p:nvSpPr>
        <p:spPr>
          <a:xfrm>
            <a:off x="558800" y="3505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0" name="s120"/>
          <p:cNvSpPr/>
          <p:nvPr/>
        </p:nvSpPr>
        <p:spPr>
          <a:xfrm>
            <a:off x="558800" y="4267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1" name="s121"/>
          <p:cNvSpPr/>
          <p:nvPr/>
        </p:nvSpPr>
        <p:spPr>
          <a:xfrm>
            <a:off x="558800" y="5029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2" name="s122"/>
          <p:cNvSpPr/>
          <p:nvPr/>
        </p:nvSpPr>
        <p:spPr>
          <a:xfrm>
            <a:off x="558800" y="5791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3" name="s123"/>
          <p:cNvSpPr/>
          <p:nvPr/>
        </p:nvSpPr>
        <p:spPr>
          <a:xfrm>
            <a:off x="9144000" y="-1016000"/>
            <a:ext cx="4826000" cy="4826000"/>
          </a:xfrm>
          <a:prstGeom prst="ellipse">
            <a:avLst/>
          </a:prstGeom>
          <a:gradFill>
            <a:gsLst>
              <a:gs pos="0">
                <a:srgbClr val="4F8406">
                  <a:alpha val="26000"/>
                </a:srgbClr>
              </a:gs>
              <a:gs pos="100000">
                <a:srgbClr val="4F8406">
                  <a:alpha val="0"/>
                </a:srgbClr>
              </a:gs>
            </a:gsLst>
            <a:path path="circle"/>
          </a:gradFill>
          <a:ln>
            <a:noFill/>
          </a:ln>
          <a:effectLst>
            <a:blur rad="457200"/>
          </a:effectLst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4" name="s124"/>
          <p:cNvSpPr/>
          <p:nvPr/>
        </p:nvSpPr>
        <p:spPr>
          <a:xfrm>
            <a:off x="558800" y="457200"/>
            <a:ext cx="50800" cy="5943600"/>
          </a:xfrm>
          <a:prstGeom prst="rect">
            <a:avLst/>
          </a:prstGeom>
          <a:gradFill>
            <a:gsLst>
              <a:gs pos="0">
                <a:srgbClr val="61E33D"/>
              </a:gs>
              <a:gs pos="100000">
                <a:srgbClr val="61E33D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5" name="s125"/>
          <p:cNvSpPr/>
          <p:nvPr/>
        </p:nvSpPr>
        <p:spPr>
          <a:xfrm>
            <a:off x="812800" y="482600"/>
            <a:ext cx="4318000" cy="355600"/>
          </a:xfrm>
          <a:prstGeom prst="roundRect">
            <a:avLst>
              <a:gd name="adj" fmla="val 50000"/>
            </a:avLst>
          </a:prstGeom>
          <a:solidFill>
            <a:srgbClr val="61E33D">
              <a:alpha val="12000"/>
            </a:srgbClr>
          </a:solidFill>
          <a:ln w="9525">
            <a:solidFill>
              <a:srgbClr val="61E33D">
                <a:alpha val="40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900" b="1" spc="70" dirty="0">
                <a:solidFill>
                  <a:srgbClr val="9BFF7A"/>
                </a:solidFill>
                <a:latin typeface="Poppins"/>
              </a:rPr>
              <a:t>VISÃO CONSOLIDADA</a:t>
            </a:r>
          </a:p>
        </p:txBody>
      </p:sp>
      <p:sp>
        <p:nvSpPr>
          <p:cNvPr id="126" name="s126"/>
          <p:cNvSpPr/>
          <p:nvPr/>
        </p:nvSpPr>
        <p:spPr>
          <a:xfrm>
            <a:off x="812800" y="939800"/>
            <a:ext cx="105664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3000" b="1" dirty="0">
                <a:solidFill>
                  <a:srgbClr val="FFFFFF"/>
                </a:solidFill>
                <a:latin typeface="Poppins"/>
              </a:rPr>
              <a:t>30 dias, duas trilhas, </a:t>
            </a:r>
            <a:r>
              <a:rPr lang="pt-BR" sz="3000" b="1" dirty="0">
                <a:solidFill>
                  <a:srgbClr val="61E33D"/>
                </a:solidFill>
                <a:latin typeface="Poppins"/>
              </a:rPr>
              <a:t>um mesmo ponto de partida</a:t>
            </a:r>
          </a:p>
        </p:txBody>
      </p:sp>
      <p:sp>
        <p:nvSpPr>
          <p:cNvPr id="127" name="s127"/>
          <p:cNvSpPr/>
          <p:nvPr/>
        </p:nvSpPr>
        <p:spPr>
          <a:xfrm>
            <a:off x="812800" y="1600200"/>
            <a:ext cx="10566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1300" dirty="0">
                <a:solidFill>
                  <a:srgbClr val="F0F7F3"/>
                </a:solidFill>
                <a:latin typeface="Aeonik"/>
              </a:rPr>
              <a:t>Fernanda e Daniel avançam em paralelo, semana a semana, com entregáveis próprios e marcos em comum.</a:t>
            </a:r>
          </a:p>
        </p:txBody>
      </p:sp>
      <p:sp>
        <p:nvSpPr>
          <p:cNvPr id="128" name="s128"/>
          <p:cNvSpPr/>
          <p:nvPr/>
        </p:nvSpPr>
        <p:spPr>
          <a:xfrm>
            <a:off x="812800" y="2006600"/>
            <a:ext cx="10566400" cy="12700"/>
          </a:xfrm>
          <a:prstGeom prst="rect">
            <a:avLst/>
          </a:prstGeom>
          <a:solidFill>
            <a:srgbClr val="9BE8A8">
              <a:alpha val="18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9" name="s129"/>
          <p:cNvSpPr/>
          <p:nvPr/>
        </p:nvSpPr>
        <p:spPr>
          <a:xfrm>
            <a:off x="812800" y="21844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900" b="1" spc="60" dirty="0">
                <a:solidFill>
                  <a:srgbClr val="E4EFE9"/>
                </a:solidFill>
                <a:latin typeface="Poppins"/>
              </a:rPr>
              <a:t>SEMANA</a:t>
            </a:r>
          </a:p>
        </p:txBody>
      </p:sp>
      <p:sp>
        <p:nvSpPr>
          <p:cNvPr id="130" name="s130"/>
          <p:cNvSpPr/>
          <p:nvPr/>
        </p:nvSpPr>
        <p:spPr>
          <a:xfrm>
            <a:off x="2133600" y="2184400"/>
            <a:ext cx="4622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900" b="1" spc="30" dirty="0">
                <a:solidFill>
                  <a:srgbClr val="9BFF7A"/>
                </a:solidFill>
                <a:latin typeface="Poppins"/>
              </a:rPr>
              <a:t>FERNANDA · CRÉDITO &amp; COBRANÇA</a:t>
            </a:r>
          </a:p>
        </p:txBody>
      </p:sp>
      <p:sp>
        <p:nvSpPr>
          <p:cNvPr id="131" name="s131"/>
          <p:cNvSpPr/>
          <p:nvPr/>
        </p:nvSpPr>
        <p:spPr>
          <a:xfrm>
            <a:off x="6959600" y="2184400"/>
            <a:ext cx="441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900" b="1" spc="30" dirty="0">
                <a:solidFill>
                  <a:srgbClr val="9BFF7A"/>
                </a:solidFill>
                <a:latin typeface="Poppins"/>
              </a:rPr>
              <a:t>DANIEL · PRODUCTS ANALYTICS</a:t>
            </a:r>
          </a:p>
        </p:txBody>
      </p:sp>
      <p:sp>
        <p:nvSpPr>
          <p:cNvPr id="133" name="s133"/>
          <p:cNvSpPr/>
          <p:nvPr/>
        </p:nvSpPr>
        <p:spPr>
          <a:xfrm>
            <a:off x="812800" y="2565400"/>
            <a:ext cx="711200" cy="7112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61E33D">
                  <a:alpha val="26000"/>
                </a:srgbClr>
              </a:gs>
              <a:gs pos="100000">
                <a:srgbClr val="2F7A1C">
                  <a:alpha val="14000"/>
                </a:srgbClr>
              </a:gs>
            </a:gsLst>
            <a:lin ang="2700000" scaled="0"/>
          </a:gradFill>
          <a:ln w="9525">
            <a:solidFill>
              <a:srgbClr val="61E33D">
                <a:alpha val="5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1500" b="1" dirty="0">
                <a:solidFill>
                  <a:srgbClr val="FFFFFF"/>
                </a:solidFill>
                <a:latin typeface="Poppins"/>
              </a:rPr>
              <a:t>S1</a:t>
            </a:r>
          </a:p>
          <a:p>
            <a:pPr algn="ctr">
              <a:spcBef>
                <a:spcPts val="20"/>
              </a:spcBef>
              <a:buNone/>
            </a:pPr>
            <a:r>
              <a:rPr lang="pt-BR" sz="650" b="1" spc="20" dirty="0">
                <a:solidFill>
                  <a:srgbClr val="9BFF7A"/>
                </a:solidFill>
                <a:latin typeface="Poppins"/>
              </a:rPr>
              <a:t>SEMANA 1</a:t>
            </a:r>
          </a:p>
        </p:txBody>
      </p:sp>
      <p:sp>
        <p:nvSpPr>
          <p:cNvPr id="134" name="s134"/>
          <p:cNvSpPr/>
          <p:nvPr/>
        </p:nvSpPr>
        <p:spPr>
          <a:xfrm>
            <a:off x="2133600" y="2565400"/>
            <a:ext cx="4622800" cy="7112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6" tIns="0" rIns="16" bIns="0" anchor="ctr">
            <a:noAutofit/>
          </a:bodyPr>
          <a:lstStyle/>
          <a:p>
            <a:pPr algn="l">
              <a:buNone/>
            </a:pPr>
            <a:r>
              <a:rPr lang="pt-BR" sz="1100" dirty="0">
                <a:solidFill>
                  <a:srgbClr val="F0F7F3"/>
                </a:solidFill>
                <a:latin typeface="Aeonik"/>
              </a:rPr>
              <a:t>Acessos + DS + Engenharia + materiais + jornada de crédito e compliance</a:t>
            </a:r>
          </a:p>
        </p:txBody>
      </p:sp>
      <p:sp>
        <p:nvSpPr>
          <p:cNvPr id="135" name="s135"/>
          <p:cNvSpPr/>
          <p:nvPr/>
        </p:nvSpPr>
        <p:spPr>
          <a:xfrm>
            <a:off x="6959600" y="2565400"/>
            <a:ext cx="4419600" cy="7112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6" tIns="0" rIns="16" bIns="0" anchor="ctr">
            <a:noAutofit/>
          </a:bodyPr>
          <a:lstStyle/>
          <a:p>
            <a:pPr algn="l">
              <a:buNone/>
            </a:pPr>
            <a:r>
              <a:rPr lang="pt-BR" sz="1100" dirty="0">
                <a:solidFill>
                  <a:srgbClr val="F0F7F3"/>
                </a:solidFill>
                <a:latin typeface="Aeonik"/>
              </a:rPr>
              <a:t>Acessos + DS + Engenharia + materiais + navegar junto com Fernanda</a:t>
            </a:r>
          </a:p>
        </p:txBody>
      </p:sp>
      <p:sp>
        <p:nvSpPr>
          <p:cNvPr id="136" name="s136"/>
          <p:cNvSpPr/>
          <p:nvPr/>
        </p:nvSpPr>
        <p:spPr>
          <a:xfrm>
            <a:off x="812800" y="3479800"/>
            <a:ext cx="711200" cy="7112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61E33D">
                  <a:alpha val="26000"/>
                </a:srgbClr>
              </a:gs>
              <a:gs pos="100000">
                <a:srgbClr val="2F7A1C">
                  <a:alpha val="14000"/>
                </a:srgbClr>
              </a:gs>
            </a:gsLst>
            <a:lin ang="2700000" scaled="0"/>
          </a:gradFill>
          <a:ln w="9525">
            <a:solidFill>
              <a:srgbClr val="61E33D">
                <a:alpha val="5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1500" b="1" dirty="0">
                <a:solidFill>
                  <a:srgbClr val="FFFFFF"/>
                </a:solidFill>
                <a:latin typeface="Poppins"/>
              </a:rPr>
              <a:t>S2</a:t>
            </a:r>
          </a:p>
          <a:p>
            <a:pPr algn="ctr">
              <a:spcBef>
                <a:spcPts val="20"/>
              </a:spcBef>
              <a:buNone/>
            </a:pPr>
            <a:r>
              <a:rPr lang="pt-BR" sz="650" b="1" spc="20" dirty="0">
                <a:solidFill>
                  <a:srgbClr val="9BFF7A"/>
                </a:solidFill>
                <a:latin typeface="Poppins"/>
              </a:rPr>
              <a:t>SEMANA 2</a:t>
            </a:r>
          </a:p>
        </p:txBody>
      </p:sp>
      <p:sp>
        <p:nvSpPr>
          <p:cNvPr id="138" name="s138"/>
          <p:cNvSpPr/>
          <p:nvPr/>
        </p:nvSpPr>
        <p:spPr>
          <a:xfrm>
            <a:off x="2133600" y="3479800"/>
            <a:ext cx="4622800" cy="7112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6" tIns="0" rIns="16" bIns="0" anchor="ctr">
            <a:noAutofit/>
          </a:bodyPr>
          <a:lstStyle/>
          <a:p>
            <a:pPr algn="l">
              <a:buNone/>
            </a:pPr>
            <a:r>
              <a:rPr lang="pt-BR" sz="1100" dirty="0">
                <a:solidFill>
                  <a:srgbClr val="F0F7F3"/>
                </a:solidFill>
                <a:latin typeface="Aeonik"/>
              </a:rPr>
              <a:t>Exploração da tabela de solicitações + tabela-chave + gaps</a:t>
            </a:r>
          </a:p>
        </p:txBody>
      </p:sp>
      <p:sp>
        <p:nvSpPr>
          <p:cNvPr id="139" name="s139"/>
          <p:cNvSpPr/>
          <p:nvPr/>
        </p:nvSpPr>
        <p:spPr>
          <a:xfrm>
            <a:off x="6959600" y="3479800"/>
            <a:ext cx="4419600" cy="7112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6" tIns="0" rIns="16" bIns="0" anchor="ctr">
            <a:noAutofit/>
          </a:bodyPr>
          <a:lstStyle/>
          <a:p>
            <a:pPr algn="l">
              <a:buNone/>
            </a:pPr>
            <a:r>
              <a:rPr lang="pt-BR" sz="1100" dirty="0">
                <a:solidFill>
                  <a:srgbClr val="F0F7F3"/>
                </a:solidFill>
                <a:latin typeface="Aeonik"/>
              </a:rPr>
              <a:t>Inventário e catalogação dos dashboards</a:t>
            </a:r>
          </a:p>
        </p:txBody>
      </p:sp>
      <p:sp>
        <p:nvSpPr>
          <p:cNvPr id="140" name="s140"/>
          <p:cNvSpPr/>
          <p:nvPr/>
        </p:nvSpPr>
        <p:spPr>
          <a:xfrm>
            <a:off x="812800" y="4394200"/>
            <a:ext cx="711200" cy="7112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61E33D">
                  <a:alpha val="26000"/>
                </a:srgbClr>
              </a:gs>
              <a:gs pos="100000">
                <a:srgbClr val="2F7A1C">
                  <a:alpha val="14000"/>
                </a:srgbClr>
              </a:gs>
            </a:gsLst>
            <a:lin ang="2700000" scaled="0"/>
          </a:gradFill>
          <a:ln w="9525">
            <a:solidFill>
              <a:srgbClr val="61E33D">
                <a:alpha val="5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1500" b="1" dirty="0">
                <a:solidFill>
                  <a:srgbClr val="FFFFFF"/>
                </a:solidFill>
                <a:latin typeface="Poppins"/>
              </a:rPr>
              <a:t>S3</a:t>
            </a:r>
          </a:p>
          <a:p>
            <a:pPr algn="ctr">
              <a:spcBef>
                <a:spcPts val="20"/>
              </a:spcBef>
              <a:buNone/>
            </a:pPr>
            <a:r>
              <a:rPr lang="pt-BR" sz="650" b="1" spc="20" dirty="0">
                <a:solidFill>
                  <a:srgbClr val="9BFF7A"/>
                </a:solidFill>
                <a:latin typeface="Poppins"/>
              </a:rPr>
              <a:t>SEMANA 3</a:t>
            </a:r>
          </a:p>
        </p:txBody>
      </p:sp>
      <p:sp>
        <p:nvSpPr>
          <p:cNvPr id="142" name="s142"/>
          <p:cNvSpPr/>
          <p:nvPr/>
        </p:nvSpPr>
        <p:spPr>
          <a:xfrm>
            <a:off x="2133600" y="4394200"/>
            <a:ext cx="4622800" cy="7112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6" tIns="0" rIns="16" bIns="0" anchor="ctr">
            <a:noAutofit/>
          </a:bodyPr>
          <a:lstStyle/>
          <a:p>
            <a:pPr algn="l">
              <a:buNone/>
            </a:pPr>
            <a:r>
              <a:rPr lang="pt-BR" sz="1100" dirty="0">
                <a:solidFill>
                  <a:srgbClr val="F0F7F3"/>
                </a:solidFill>
                <a:latin typeface="Aeonik"/>
              </a:rPr>
              <a:t>Refazer estudo de aprovação Nutrien + % arrendatário faixa a faixa + desenho do fluxo</a:t>
            </a:r>
          </a:p>
        </p:txBody>
      </p:sp>
      <p:sp>
        <p:nvSpPr>
          <p:cNvPr id="143" name="s143"/>
          <p:cNvSpPr/>
          <p:nvPr/>
        </p:nvSpPr>
        <p:spPr>
          <a:xfrm>
            <a:off x="6959600" y="4394200"/>
            <a:ext cx="4419600" cy="7112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6" tIns="0" rIns="16" bIns="0" anchor="ctr">
            <a:noAutofit/>
          </a:bodyPr>
          <a:lstStyle/>
          <a:p>
            <a:pPr algn="l">
              <a:buNone/>
            </a:pPr>
            <a:r>
              <a:rPr lang="pt-BR" sz="1100" dirty="0">
                <a:solidFill>
                  <a:srgbClr val="F0F7F3"/>
                </a:solidFill>
                <a:latin typeface="Aeonik"/>
              </a:rPr>
              <a:t>Avaliar sobreposições + uso dos cubos + one-page × abas + racionalização</a:t>
            </a:r>
          </a:p>
        </p:txBody>
      </p:sp>
      <p:sp>
        <p:nvSpPr>
          <p:cNvPr id="144" name="s144"/>
          <p:cNvSpPr/>
          <p:nvPr/>
        </p:nvSpPr>
        <p:spPr>
          <a:xfrm>
            <a:off x="812800" y="5308600"/>
            <a:ext cx="711200" cy="71120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61E33D">
                  <a:alpha val="26000"/>
                </a:srgbClr>
              </a:gs>
              <a:gs pos="100000">
                <a:srgbClr val="2F7A1C">
                  <a:alpha val="14000"/>
                </a:srgbClr>
              </a:gs>
            </a:gsLst>
            <a:lin ang="2700000" scaled="0"/>
          </a:gradFill>
          <a:ln w="9525">
            <a:solidFill>
              <a:srgbClr val="61E33D">
                <a:alpha val="5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1500" b="1" dirty="0">
                <a:solidFill>
                  <a:srgbClr val="FFFFFF"/>
                </a:solidFill>
                <a:latin typeface="Poppins"/>
              </a:rPr>
              <a:t>S4</a:t>
            </a:r>
          </a:p>
          <a:p>
            <a:pPr algn="ctr">
              <a:spcBef>
                <a:spcPts val="20"/>
              </a:spcBef>
              <a:buNone/>
            </a:pPr>
            <a:r>
              <a:rPr lang="pt-BR" sz="650" b="1" spc="20" dirty="0">
                <a:solidFill>
                  <a:srgbClr val="9BFF7A"/>
                </a:solidFill>
                <a:latin typeface="Poppins"/>
              </a:rPr>
              <a:t>SEMANA 4</a:t>
            </a:r>
          </a:p>
        </p:txBody>
      </p:sp>
      <p:sp>
        <p:nvSpPr>
          <p:cNvPr id="146" name="s146"/>
          <p:cNvSpPr/>
          <p:nvPr/>
        </p:nvSpPr>
        <p:spPr>
          <a:xfrm>
            <a:off x="2133600" y="5308600"/>
            <a:ext cx="4622800" cy="7112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6" tIns="0" rIns="16" bIns="0" anchor="ctr">
            <a:noAutofit/>
          </a:bodyPr>
          <a:lstStyle/>
          <a:p>
            <a:pPr algn="l">
              <a:buNone/>
            </a:pPr>
            <a:r>
              <a:rPr lang="pt-BR" sz="1100" dirty="0">
                <a:solidFill>
                  <a:srgbClr val="F0F7F3"/>
                </a:solidFill>
                <a:latin typeface="Aeonik"/>
              </a:rPr>
              <a:t>Consolidar fluxo + mapa dos dados + gaps + estudo Nutrien</a:t>
            </a:r>
          </a:p>
        </p:txBody>
      </p:sp>
      <p:sp>
        <p:nvSpPr>
          <p:cNvPr id="147" name="s147"/>
          <p:cNvSpPr/>
          <p:nvPr/>
        </p:nvSpPr>
        <p:spPr>
          <a:xfrm>
            <a:off x="6959600" y="5308600"/>
            <a:ext cx="4419600" cy="7112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6" tIns="0" rIns="16" bIns="0" anchor="ctr">
            <a:noAutofit/>
          </a:bodyPr>
          <a:lstStyle/>
          <a:p>
            <a:pPr algn="l">
              <a:buNone/>
            </a:pPr>
            <a:r>
              <a:rPr lang="pt-BR" sz="1100" dirty="0">
                <a:solidFill>
                  <a:srgbClr val="F0F7F3"/>
                </a:solidFill>
                <a:latin typeface="Aeonik"/>
              </a:rPr>
              <a:t>Design System com Marcos + tabela-chave de portfólio</a:t>
            </a:r>
          </a:p>
        </p:txBody>
      </p:sp>
    </p:spTree>
    <p:extLst>
      <p:ext uri="{BB962C8B-B14F-4D97-AF65-F5344CB8AC3E}">
        <p14:creationId xmlns:p14="http://schemas.microsoft.com/office/powerpoint/2010/main" val="186038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558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1320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2" name="s102"/>
          <p:cNvSpPr/>
          <p:nvPr/>
        </p:nvSpPr>
        <p:spPr>
          <a:xfrm>
            <a:off x="2082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3" name="s103"/>
          <p:cNvSpPr/>
          <p:nvPr/>
        </p:nvSpPr>
        <p:spPr>
          <a:xfrm>
            <a:off x="2844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4" name="s104"/>
          <p:cNvSpPr/>
          <p:nvPr/>
        </p:nvSpPr>
        <p:spPr>
          <a:xfrm>
            <a:off x="3606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5" name="s105"/>
          <p:cNvSpPr/>
          <p:nvPr/>
        </p:nvSpPr>
        <p:spPr>
          <a:xfrm>
            <a:off x="4368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6" name="s106"/>
          <p:cNvSpPr/>
          <p:nvPr/>
        </p:nvSpPr>
        <p:spPr>
          <a:xfrm>
            <a:off x="5130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7" name="s107"/>
          <p:cNvSpPr/>
          <p:nvPr/>
        </p:nvSpPr>
        <p:spPr>
          <a:xfrm>
            <a:off x="5892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8" name="s108"/>
          <p:cNvSpPr/>
          <p:nvPr/>
        </p:nvSpPr>
        <p:spPr>
          <a:xfrm>
            <a:off x="6654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9" name="s109"/>
          <p:cNvSpPr/>
          <p:nvPr/>
        </p:nvSpPr>
        <p:spPr>
          <a:xfrm>
            <a:off x="7416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0" name="s110"/>
          <p:cNvSpPr/>
          <p:nvPr/>
        </p:nvSpPr>
        <p:spPr>
          <a:xfrm>
            <a:off x="8178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1" name="s111"/>
          <p:cNvSpPr/>
          <p:nvPr/>
        </p:nvSpPr>
        <p:spPr>
          <a:xfrm>
            <a:off x="8940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2" name="s112"/>
          <p:cNvSpPr/>
          <p:nvPr/>
        </p:nvSpPr>
        <p:spPr>
          <a:xfrm>
            <a:off x="9702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3" name="s113"/>
          <p:cNvSpPr/>
          <p:nvPr/>
        </p:nvSpPr>
        <p:spPr>
          <a:xfrm>
            <a:off x="10464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4" name="s114"/>
          <p:cNvSpPr/>
          <p:nvPr/>
        </p:nvSpPr>
        <p:spPr>
          <a:xfrm>
            <a:off x="11226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5" name="s115"/>
          <p:cNvSpPr/>
          <p:nvPr/>
        </p:nvSpPr>
        <p:spPr>
          <a:xfrm>
            <a:off x="558800" y="457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6" name="s116"/>
          <p:cNvSpPr/>
          <p:nvPr/>
        </p:nvSpPr>
        <p:spPr>
          <a:xfrm>
            <a:off x="558800" y="1219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7" name="s117"/>
          <p:cNvSpPr/>
          <p:nvPr/>
        </p:nvSpPr>
        <p:spPr>
          <a:xfrm>
            <a:off x="558800" y="1981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8" name="s118"/>
          <p:cNvSpPr/>
          <p:nvPr/>
        </p:nvSpPr>
        <p:spPr>
          <a:xfrm>
            <a:off x="558800" y="2743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9" name="s119"/>
          <p:cNvSpPr/>
          <p:nvPr/>
        </p:nvSpPr>
        <p:spPr>
          <a:xfrm>
            <a:off x="558800" y="3505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0" name="s120"/>
          <p:cNvSpPr/>
          <p:nvPr/>
        </p:nvSpPr>
        <p:spPr>
          <a:xfrm>
            <a:off x="558800" y="4267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1" name="s121"/>
          <p:cNvSpPr/>
          <p:nvPr/>
        </p:nvSpPr>
        <p:spPr>
          <a:xfrm>
            <a:off x="558800" y="5029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2" name="s122"/>
          <p:cNvSpPr/>
          <p:nvPr/>
        </p:nvSpPr>
        <p:spPr>
          <a:xfrm>
            <a:off x="558800" y="5791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3" name="s123"/>
          <p:cNvSpPr/>
          <p:nvPr/>
        </p:nvSpPr>
        <p:spPr>
          <a:xfrm>
            <a:off x="-1270000" y="3810000"/>
            <a:ext cx="4826000" cy="4826000"/>
          </a:xfrm>
          <a:prstGeom prst="ellipse">
            <a:avLst/>
          </a:prstGeom>
          <a:gradFill>
            <a:gsLst>
              <a:gs pos="0">
                <a:srgbClr val="4F8406">
                  <a:alpha val="26000"/>
                </a:srgbClr>
              </a:gs>
              <a:gs pos="100000">
                <a:srgbClr val="4F8406">
                  <a:alpha val="0"/>
                </a:srgbClr>
              </a:gs>
            </a:gsLst>
            <a:path path="circle"/>
          </a:gradFill>
          <a:ln>
            <a:noFill/>
          </a:ln>
          <a:effectLst>
            <a:blur rad="457200"/>
          </a:effectLst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4" name="s124"/>
          <p:cNvSpPr/>
          <p:nvPr/>
        </p:nvSpPr>
        <p:spPr>
          <a:xfrm>
            <a:off x="558800" y="457200"/>
            <a:ext cx="50800" cy="5943600"/>
          </a:xfrm>
          <a:prstGeom prst="rect">
            <a:avLst/>
          </a:prstGeom>
          <a:gradFill>
            <a:gsLst>
              <a:gs pos="0">
                <a:srgbClr val="61E33D"/>
              </a:gs>
              <a:gs pos="100000">
                <a:srgbClr val="61E33D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5" name="s125"/>
          <p:cNvSpPr/>
          <p:nvPr/>
        </p:nvSpPr>
        <p:spPr>
          <a:xfrm>
            <a:off x="812800" y="482600"/>
            <a:ext cx="3556000" cy="355600"/>
          </a:xfrm>
          <a:prstGeom prst="roundRect">
            <a:avLst>
              <a:gd name="adj" fmla="val 50000"/>
            </a:avLst>
          </a:prstGeom>
          <a:solidFill>
            <a:srgbClr val="61E33D">
              <a:alpha val="12000"/>
            </a:srgbClr>
          </a:solidFill>
          <a:ln w="9525">
            <a:solidFill>
              <a:srgbClr val="61E33D">
                <a:alpha val="40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900" b="1" spc="70" dirty="0">
                <a:solidFill>
                  <a:srgbClr val="9BFF7A"/>
                </a:solidFill>
                <a:latin typeface="Poppins"/>
              </a:rPr>
              <a:t>TRILHA COMUM</a:t>
            </a:r>
          </a:p>
        </p:txBody>
      </p:sp>
      <p:sp>
        <p:nvSpPr>
          <p:cNvPr id="126" name="s126"/>
          <p:cNvSpPr/>
          <p:nvPr/>
        </p:nvSpPr>
        <p:spPr>
          <a:xfrm>
            <a:off x="812800" y="939800"/>
            <a:ext cx="105664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3000" b="1" dirty="0">
                <a:solidFill>
                  <a:srgbClr val="FFFFFF"/>
                </a:solidFill>
                <a:latin typeface="Poppins"/>
              </a:rPr>
              <a:t>Semana 1</a:t>
            </a:r>
            <a:endParaRPr lang="pt-BR" sz="3000" b="1" dirty="0">
              <a:solidFill>
                <a:srgbClr val="61E33D"/>
              </a:solidFill>
              <a:latin typeface="Poppins"/>
            </a:endParaRPr>
          </a:p>
        </p:txBody>
      </p:sp>
      <p:sp>
        <p:nvSpPr>
          <p:cNvPr id="127" name="s127"/>
          <p:cNvSpPr/>
          <p:nvPr/>
        </p:nvSpPr>
        <p:spPr>
          <a:xfrm>
            <a:off x="812800" y="16002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1300" dirty="0">
                <a:solidFill>
                  <a:srgbClr val="F0F7F3"/>
                </a:solidFill>
                <a:latin typeface="Aeonik"/>
              </a:rPr>
              <a:t>Objetivo: navegar nos dados e entender quem faz o quê — antes de qualquer atividade específica.</a:t>
            </a:r>
          </a:p>
        </p:txBody>
      </p:sp>
      <p:sp>
        <p:nvSpPr>
          <p:cNvPr id="128" name="s128"/>
          <p:cNvSpPr/>
          <p:nvPr/>
        </p:nvSpPr>
        <p:spPr>
          <a:xfrm>
            <a:off x="812800" y="1981200"/>
            <a:ext cx="10566400" cy="12700"/>
          </a:xfrm>
          <a:prstGeom prst="rect">
            <a:avLst/>
          </a:prstGeom>
          <a:solidFill>
            <a:srgbClr val="9BE8A8">
              <a:alpha val="18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9" name="s129"/>
          <p:cNvSpPr/>
          <p:nvPr/>
        </p:nvSpPr>
        <p:spPr>
          <a:xfrm>
            <a:off x="812800" y="2184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900" b="1" spc="60" dirty="0">
                <a:solidFill>
                  <a:srgbClr val="E4EFE9"/>
                </a:solidFill>
                <a:latin typeface="Poppins"/>
              </a:rPr>
              <a:t>ATIVIDADES</a:t>
            </a:r>
          </a:p>
        </p:txBody>
      </p:sp>
      <p:sp>
        <p:nvSpPr>
          <p:cNvPr id="130" name="s130"/>
          <p:cNvSpPr/>
          <p:nvPr/>
        </p:nvSpPr>
        <p:spPr>
          <a:xfrm>
            <a:off x="812800" y="2514600"/>
            <a:ext cx="228600" cy="228600"/>
          </a:xfrm>
          <a:prstGeom prst="ellipse">
            <a:avLst/>
          </a:prstGeom>
          <a:solidFill>
            <a:srgbClr val="61E33D">
              <a:alpha val="16000"/>
            </a:srgbClr>
          </a:solidFill>
          <a:ln w="9525">
            <a:solidFill>
              <a:srgbClr val="61E33D">
                <a:alpha val="5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900" b="1" dirty="0">
                <a:solidFill>
                  <a:srgbClr val="61E33D"/>
                </a:solidFill>
                <a:latin typeface="Poppins"/>
              </a:rPr>
              <a:t>1</a:t>
            </a:r>
          </a:p>
        </p:txBody>
      </p:sp>
      <p:sp>
        <p:nvSpPr>
          <p:cNvPr id="131" name="s131"/>
          <p:cNvSpPr/>
          <p:nvPr/>
        </p:nvSpPr>
        <p:spPr>
          <a:xfrm>
            <a:off x="1143000" y="24638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100" dirty="0">
                <a:solidFill>
                  <a:srgbClr val="F0F7F3"/>
                </a:solidFill>
                <a:latin typeface="Aeonik"/>
              </a:rPr>
              <a:t>Garantir todos os acessos necessários (bases, dashboards, materiais)</a:t>
            </a:r>
          </a:p>
        </p:txBody>
      </p:sp>
      <p:sp>
        <p:nvSpPr>
          <p:cNvPr id="132" name="s132"/>
          <p:cNvSpPr/>
          <p:nvPr/>
        </p:nvSpPr>
        <p:spPr>
          <a:xfrm>
            <a:off x="812800" y="3098800"/>
            <a:ext cx="228600" cy="228600"/>
          </a:xfrm>
          <a:prstGeom prst="ellipse">
            <a:avLst/>
          </a:prstGeom>
          <a:solidFill>
            <a:srgbClr val="61E33D">
              <a:alpha val="16000"/>
            </a:srgbClr>
          </a:solidFill>
          <a:ln w="9525">
            <a:solidFill>
              <a:srgbClr val="61E33D">
                <a:alpha val="5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900" b="1" dirty="0">
                <a:solidFill>
                  <a:srgbClr val="61E33D"/>
                </a:solidFill>
                <a:latin typeface="Poppins"/>
              </a:rPr>
              <a:t>2</a:t>
            </a:r>
          </a:p>
        </p:txBody>
      </p:sp>
      <p:sp>
        <p:nvSpPr>
          <p:cNvPr id="133" name="s133"/>
          <p:cNvSpPr/>
          <p:nvPr/>
        </p:nvSpPr>
        <p:spPr>
          <a:xfrm>
            <a:off x="1143000" y="30480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100" dirty="0">
                <a:solidFill>
                  <a:srgbClr val="F0F7F3"/>
                </a:solidFill>
                <a:latin typeface="Aeonik"/>
              </a:rPr>
              <a:t>Conversar com Data Science — temas, responsabilidades e conhecimento do time</a:t>
            </a:r>
          </a:p>
        </p:txBody>
      </p:sp>
      <p:sp>
        <p:nvSpPr>
          <p:cNvPr id="134" name="s134"/>
          <p:cNvSpPr/>
          <p:nvPr/>
        </p:nvSpPr>
        <p:spPr>
          <a:xfrm>
            <a:off x="812800" y="3683000"/>
            <a:ext cx="228600" cy="228600"/>
          </a:xfrm>
          <a:prstGeom prst="ellipse">
            <a:avLst/>
          </a:prstGeom>
          <a:solidFill>
            <a:srgbClr val="61E33D">
              <a:alpha val="16000"/>
            </a:srgbClr>
          </a:solidFill>
          <a:ln w="9525">
            <a:solidFill>
              <a:srgbClr val="61E33D">
                <a:alpha val="5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900" b="1" dirty="0">
                <a:solidFill>
                  <a:srgbClr val="61E33D"/>
                </a:solidFill>
                <a:latin typeface="Poppins"/>
              </a:rPr>
              <a:t>3</a:t>
            </a:r>
          </a:p>
        </p:txBody>
      </p:sp>
      <p:sp>
        <p:nvSpPr>
          <p:cNvPr id="135" name="s135"/>
          <p:cNvSpPr/>
          <p:nvPr/>
        </p:nvSpPr>
        <p:spPr>
          <a:xfrm>
            <a:off x="1143000" y="36322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100" dirty="0">
                <a:solidFill>
                  <a:srgbClr val="F0F7F3"/>
                </a:solidFill>
                <a:latin typeface="Aeonik"/>
              </a:rPr>
              <a:t>Conversar com Engenharia — como os dados estão organizados e quem conhece cada fonte</a:t>
            </a:r>
          </a:p>
        </p:txBody>
      </p:sp>
      <p:sp>
        <p:nvSpPr>
          <p:cNvPr id="136" name="s136"/>
          <p:cNvSpPr/>
          <p:nvPr/>
        </p:nvSpPr>
        <p:spPr>
          <a:xfrm>
            <a:off x="812800" y="4267200"/>
            <a:ext cx="228600" cy="228600"/>
          </a:xfrm>
          <a:prstGeom prst="ellipse">
            <a:avLst/>
          </a:prstGeom>
          <a:solidFill>
            <a:srgbClr val="61E33D">
              <a:alpha val="16000"/>
            </a:srgbClr>
          </a:solidFill>
          <a:ln w="9525">
            <a:solidFill>
              <a:srgbClr val="61E33D">
                <a:alpha val="5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900" b="1" dirty="0">
                <a:solidFill>
                  <a:srgbClr val="61E33D"/>
                </a:solidFill>
                <a:latin typeface="Poppins"/>
              </a:rPr>
              <a:t>4</a:t>
            </a:r>
          </a:p>
        </p:txBody>
      </p:sp>
      <p:sp>
        <p:nvSpPr>
          <p:cNvPr id="137" name="s137"/>
          <p:cNvSpPr/>
          <p:nvPr/>
        </p:nvSpPr>
        <p:spPr>
          <a:xfrm>
            <a:off x="1143000" y="42164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100" dirty="0">
                <a:solidFill>
                  <a:srgbClr val="F0F7F3"/>
                </a:solidFill>
                <a:latin typeface="Aeonik"/>
              </a:rPr>
              <a:t>Consumir os materiais de passagem de conhecimento</a:t>
            </a:r>
          </a:p>
        </p:txBody>
      </p:sp>
      <p:sp>
        <p:nvSpPr>
          <p:cNvPr id="138" name="s138"/>
          <p:cNvSpPr/>
          <p:nvPr/>
        </p:nvSpPr>
        <p:spPr>
          <a:xfrm>
            <a:off x="812800" y="4851400"/>
            <a:ext cx="228600" cy="228600"/>
          </a:xfrm>
          <a:prstGeom prst="ellipse">
            <a:avLst/>
          </a:prstGeom>
          <a:solidFill>
            <a:srgbClr val="61E33D">
              <a:alpha val="16000"/>
            </a:srgbClr>
          </a:solidFill>
          <a:ln w="9525">
            <a:solidFill>
              <a:srgbClr val="61E33D">
                <a:alpha val="5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900" b="1" dirty="0">
                <a:solidFill>
                  <a:srgbClr val="61E33D"/>
                </a:solidFill>
                <a:latin typeface="Poppins"/>
              </a:rPr>
              <a:t>5</a:t>
            </a:r>
          </a:p>
        </p:txBody>
      </p:sp>
      <p:sp>
        <p:nvSpPr>
          <p:cNvPr id="139" name="s139"/>
          <p:cNvSpPr/>
          <p:nvPr/>
        </p:nvSpPr>
        <p:spPr>
          <a:xfrm>
            <a:off x="1143000" y="48006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100" dirty="0">
                <a:solidFill>
                  <a:srgbClr val="F0F7F3"/>
                </a:solidFill>
                <a:latin typeface="Aeonik"/>
              </a:rPr>
              <a:t>Primeiras explorações das bases — tabelas, campos, granularidades, chaves</a:t>
            </a:r>
          </a:p>
        </p:txBody>
      </p:sp>
      <p:sp>
        <p:nvSpPr>
          <p:cNvPr id="142" name="s142"/>
          <p:cNvSpPr/>
          <p:nvPr/>
        </p:nvSpPr>
        <p:spPr>
          <a:xfrm>
            <a:off x="6350000" y="2184400"/>
            <a:ext cx="5029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900" b="1" spc="40" dirty="0">
                <a:solidFill>
                  <a:srgbClr val="E4EFE9"/>
                </a:solidFill>
                <a:latin typeface="Poppins"/>
              </a:rPr>
              <a:t>ORDEM DOS MATERIAIS DE PASSAGEM</a:t>
            </a:r>
          </a:p>
        </p:txBody>
      </p:sp>
      <p:sp>
        <p:nvSpPr>
          <p:cNvPr id="143" name="s143"/>
          <p:cNvSpPr/>
          <p:nvPr/>
        </p:nvSpPr>
        <p:spPr>
          <a:xfrm>
            <a:off x="6350000" y="2514600"/>
            <a:ext cx="5029200" cy="29972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4000"/>
              </a:srgbClr>
            </a:solidFill>
          </a:ln>
        </p:spPr>
        <p:txBody>
          <a:bodyPr wrap="square" lIns="18" tIns="14" rIns="18" bIns="14" anchor="t">
            <a:noAutofit/>
          </a:bodyPr>
          <a:lstStyle/>
          <a:p>
            <a:pPr algn="l">
              <a:buNone/>
            </a:pPr>
            <a:r>
              <a:rPr lang="pt-BR" sz="1100" b="1" dirty="0">
                <a:solidFill>
                  <a:srgbClr val="61E33D"/>
                </a:solidFill>
                <a:latin typeface="Poppins"/>
              </a:rPr>
              <a:t>1.  </a:t>
            </a:r>
            <a:r>
              <a:rPr lang="pt-BR" sz="1100" dirty="0">
                <a:solidFill>
                  <a:srgbClr val="F0F7F3"/>
                </a:solidFill>
                <a:latin typeface="Aeonik"/>
              </a:rPr>
              <a:t>Visão geral da Farm e conceitos principais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100" b="1" dirty="0">
                <a:solidFill>
                  <a:srgbClr val="61E33D"/>
                </a:solidFill>
                <a:latin typeface="Poppins"/>
              </a:rPr>
              <a:t>2.  </a:t>
            </a:r>
            <a:r>
              <a:rPr lang="pt-BR" sz="1100" dirty="0">
                <a:solidFill>
                  <a:srgbClr val="F0F7F3"/>
                </a:solidFill>
                <a:latin typeface="Aeonik"/>
              </a:rPr>
              <a:t>Jornada de crédito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100" b="1" dirty="0">
                <a:solidFill>
                  <a:srgbClr val="61E33D"/>
                </a:solidFill>
                <a:latin typeface="Poppins"/>
              </a:rPr>
              <a:t>3.  </a:t>
            </a:r>
            <a:r>
              <a:rPr lang="pt-BR" sz="1100" dirty="0">
                <a:solidFill>
                  <a:srgbClr val="F0F7F3"/>
                </a:solidFill>
                <a:latin typeface="Aeonik"/>
              </a:rPr>
              <a:t>Conceitos fundamentais de crédito e risco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100" b="1" dirty="0">
                <a:solidFill>
                  <a:srgbClr val="61E33D"/>
                </a:solidFill>
                <a:latin typeface="Poppins"/>
              </a:rPr>
              <a:t>4.  </a:t>
            </a:r>
            <a:r>
              <a:rPr lang="pt-BR" sz="1100" dirty="0">
                <a:solidFill>
                  <a:srgbClr val="F0F7F3"/>
                </a:solidFill>
                <a:latin typeface="Aeonik"/>
              </a:rPr>
              <a:t>Bases e tabelas utilizadas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100" b="1" dirty="0">
                <a:solidFill>
                  <a:srgbClr val="61E33D"/>
                </a:solidFill>
                <a:latin typeface="Poppins"/>
              </a:rPr>
              <a:t>5.  </a:t>
            </a:r>
            <a:r>
              <a:rPr lang="pt-BR" sz="1100" dirty="0">
                <a:solidFill>
                  <a:srgbClr val="F0F7F3"/>
                </a:solidFill>
                <a:latin typeface="Aeonik"/>
              </a:rPr>
              <a:t>Dashboards e indicadores existentes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100" b="1" dirty="0">
                <a:solidFill>
                  <a:srgbClr val="61E33D"/>
                </a:solidFill>
                <a:latin typeface="Poppins"/>
              </a:rPr>
              <a:t>6.  </a:t>
            </a:r>
            <a:r>
              <a:rPr lang="pt-BR" sz="1100" dirty="0">
                <a:solidFill>
                  <a:srgbClr val="F0F7F3"/>
                </a:solidFill>
                <a:latin typeface="Aeonik"/>
              </a:rPr>
              <a:t>Materiais específicos da cadeira de cada um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100" b="1" dirty="0">
                <a:solidFill>
                  <a:srgbClr val="61E33D"/>
                </a:solidFill>
                <a:latin typeface="Poppins"/>
              </a:rPr>
              <a:t>7.  </a:t>
            </a:r>
            <a:r>
              <a:rPr lang="pt-BR" sz="1100" dirty="0">
                <a:solidFill>
                  <a:srgbClr val="F0F7F3"/>
                </a:solidFill>
                <a:latin typeface="Aeonik"/>
              </a:rPr>
              <a:t>Materiais de passagem mais detalhados</a:t>
            </a:r>
          </a:p>
        </p:txBody>
      </p:sp>
      <p:sp>
        <p:nvSpPr>
          <p:cNvPr id="144" name="s144"/>
          <p:cNvSpPr/>
          <p:nvPr/>
        </p:nvSpPr>
        <p:spPr>
          <a:xfrm>
            <a:off x="812800" y="5709920"/>
            <a:ext cx="10566400" cy="5842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8000"/>
              </a:srgbClr>
            </a:solidFill>
          </a:ln>
        </p:spPr>
        <p:txBody>
          <a:bodyPr wrap="square" lIns="16" tIns="0" rIns="16" bIns="0" anchor="ctr">
            <a:noAutofit/>
          </a:bodyPr>
          <a:lstStyle/>
          <a:p>
            <a:pPr algn="l">
              <a:buNone/>
            </a:pPr>
            <a:r>
              <a:rPr lang="pt-BR" sz="850" b="1" spc="30" dirty="0">
                <a:solidFill>
                  <a:srgbClr val="9BFF7A"/>
                </a:solidFill>
                <a:latin typeface="Poppins"/>
              </a:rPr>
              <a:t>ENQUANTO ISSO, REGISTRAR: </a:t>
            </a:r>
            <a:r>
              <a:rPr lang="pt-BR" sz="950" dirty="0">
                <a:solidFill>
                  <a:srgbClr val="F0F7F3"/>
                </a:solidFill>
                <a:latin typeface="Aeonik"/>
              </a:rPr>
              <a:t>conceito · dúvida · fonte/tabela · especialista · ponto a aprofundar</a:t>
            </a:r>
          </a:p>
        </p:txBody>
      </p:sp>
    </p:spTree>
    <p:extLst>
      <p:ext uri="{BB962C8B-B14F-4D97-AF65-F5344CB8AC3E}">
        <p14:creationId xmlns:p14="http://schemas.microsoft.com/office/powerpoint/2010/main" val="1967842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558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1320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2" name="s102"/>
          <p:cNvSpPr/>
          <p:nvPr/>
        </p:nvSpPr>
        <p:spPr>
          <a:xfrm>
            <a:off x="2082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3" name="s103"/>
          <p:cNvSpPr/>
          <p:nvPr/>
        </p:nvSpPr>
        <p:spPr>
          <a:xfrm>
            <a:off x="2844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4" name="s104"/>
          <p:cNvSpPr/>
          <p:nvPr/>
        </p:nvSpPr>
        <p:spPr>
          <a:xfrm>
            <a:off x="3606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5" name="s105"/>
          <p:cNvSpPr/>
          <p:nvPr/>
        </p:nvSpPr>
        <p:spPr>
          <a:xfrm>
            <a:off x="4368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6" name="s106"/>
          <p:cNvSpPr/>
          <p:nvPr/>
        </p:nvSpPr>
        <p:spPr>
          <a:xfrm>
            <a:off x="5130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7" name="s107"/>
          <p:cNvSpPr/>
          <p:nvPr/>
        </p:nvSpPr>
        <p:spPr>
          <a:xfrm>
            <a:off x="5892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8" name="s108"/>
          <p:cNvSpPr/>
          <p:nvPr/>
        </p:nvSpPr>
        <p:spPr>
          <a:xfrm>
            <a:off x="6654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9" name="s109"/>
          <p:cNvSpPr/>
          <p:nvPr/>
        </p:nvSpPr>
        <p:spPr>
          <a:xfrm>
            <a:off x="7416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0" name="s110"/>
          <p:cNvSpPr/>
          <p:nvPr/>
        </p:nvSpPr>
        <p:spPr>
          <a:xfrm>
            <a:off x="8178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1" name="s111"/>
          <p:cNvSpPr/>
          <p:nvPr/>
        </p:nvSpPr>
        <p:spPr>
          <a:xfrm>
            <a:off x="8940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2" name="s112"/>
          <p:cNvSpPr/>
          <p:nvPr/>
        </p:nvSpPr>
        <p:spPr>
          <a:xfrm>
            <a:off x="9702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3" name="s113"/>
          <p:cNvSpPr/>
          <p:nvPr/>
        </p:nvSpPr>
        <p:spPr>
          <a:xfrm>
            <a:off x="10464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4" name="s114"/>
          <p:cNvSpPr/>
          <p:nvPr/>
        </p:nvSpPr>
        <p:spPr>
          <a:xfrm>
            <a:off x="11226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5" name="s115"/>
          <p:cNvSpPr/>
          <p:nvPr/>
        </p:nvSpPr>
        <p:spPr>
          <a:xfrm>
            <a:off x="558800" y="457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6" name="s116"/>
          <p:cNvSpPr/>
          <p:nvPr/>
        </p:nvSpPr>
        <p:spPr>
          <a:xfrm>
            <a:off x="558800" y="1219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7" name="s117"/>
          <p:cNvSpPr/>
          <p:nvPr/>
        </p:nvSpPr>
        <p:spPr>
          <a:xfrm>
            <a:off x="558800" y="1981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8" name="s118"/>
          <p:cNvSpPr/>
          <p:nvPr/>
        </p:nvSpPr>
        <p:spPr>
          <a:xfrm>
            <a:off x="558800" y="2743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9" name="s119"/>
          <p:cNvSpPr/>
          <p:nvPr/>
        </p:nvSpPr>
        <p:spPr>
          <a:xfrm>
            <a:off x="558800" y="3505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0" name="s120"/>
          <p:cNvSpPr/>
          <p:nvPr/>
        </p:nvSpPr>
        <p:spPr>
          <a:xfrm>
            <a:off x="558800" y="4267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1" name="s121"/>
          <p:cNvSpPr/>
          <p:nvPr/>
        </p:nvSpPr>
        <p:spPr>
          <a:xfrm>
            <a:off x="558800" y="5029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2" name="s122"/>
          <p:cNvSpPr/>
          <p:nvPr/>
        </p:nvSpPr>
        <p:spPr>
          <a:xfrm>
            <a:off x="558800" y="5791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3" name="s123"/>
          <p:cNvSpPr/>
          <p:nvPr/>
        </p:nvSpPr>
        <p:spPr>
          <a:xfrm>
            <a:off x="8890000" y="-1016000"/>
            <a:ext cx="4826000" cy="4826000"/>
          </a:xfrm>
          <a:prstGeom prst="ellipse">
            <a:avLst/>
          </a:prstGeom>
          <a:gradFill>
            <a:gsLst>
              <a:gs pos="0">
                <a:srgbClr val="61E33D">
                  <a:alpha val="26000"/>
                </a:srgbClr>
              </a:gs>
              <a:gs pos="100000">
                <a:srgbClr val="61E33D">
                  <a:alpha val="0"/>
                </a:srgbClr>
              </a:gs>
            </a:gsLst>
            <a:path path="circle"/>
          </a:gradFill>
          <a:ln>
            <a:noFill/>
          </a:ln>
          <a:effectLst>
            <a:blur rad="457200"/>
          </a:effectLst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4" name="s124"/>
          <p:cNvSpPr/>
          <p:nvPr/>
        </p:nvSpPr>
        <p:spPr>
          <a:xfrm>
            <a:off x="558800" y="457200"/>
            <a:ext cx="50800" cy="5943600"/>
          </a:xfrm>
          <a:prstGeom prst="rect">
            <a:avLst/>
          </a:prstGeom>
          <a:gradFill>
            <a:gsLst>
              <a:gs pos="0">
                <a:srgbClr val="61E33D"/>
              </a:gs>
              <a:gs pos="100000">
                <a:srgbClr val="61E33D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5" name="s125"/>
          <p:cNvSpPr/>
          <p:nvPr/>
        </p:nvSpPr>
        <p:spPr>
          <a:xfrm>
            <a:off x="8890000" y="533400"/>
            <a:ext cx="2489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pt-BR" sz="800" b="1" spc="40" dirty="0">
                <a:solidFill>
                  <a:srgbClr val="E4EFE9"/>
                </a:solidFill>
                <a:latin typeface="Poppins"/>
              </a:rPr>
              <a:t>ETAPA 01 / 04 · SEMANA 1</a:t>
            </a:r>
          </a:p>
        </p:txBody>
      </p:sp>
      <p:sp>
        <p:nvSpPr>
          <p:cNvPr id="126" name="s126"/>
          <p:cNvSpPr/>
          <p:nvPr/>
        </p:nvSpPr>
        <p:spPr>
          <a:xfrm>
            <a:off x="8890000" y="787400"/>
            <a:ext cx="482600" cy="63500"/>
          </a:xfrm>
          <a:prstGeom prst="roundRect">
            <a:avLst>
              <a:gd name="adj" fmla="val 50000"/>
            </a:avLst>
          </a:prstGeom>
          <a:solidFill>
            <a:srgbClr val="61E33D">
              <a:alpha val="9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7" name="s127"/>
          <p:cNvSpPr/>
          <p:nvPr/>
        </p:nvSpPr>
        <p:spPr>
          <a:xfrm>
            <a:off x="9525000" y="787400"/>
            <a:ext cx="482600" cy="63500"/>
          </a:xfrm>
          <a:prstGeom prst="roundRect">
            <a:avLst>
              <a:gd name="adj" fmla="val 50000"/>
            </a:avLst>
          </a:prstGeom>
          <a:solidFill>
            <a:srgbClr val="9BE8A8">
              <a:alpha val="22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8" name="s128"/>
          <p:cNvSpPr/>
          <p:nvPr/>
        </p:nvSpPr>
        <p:spPr>
          <a:xfrm>
            <a:off x="10160000" y="787400"/>
            <a:ext cx="482600" cy="63500"/>
          </a:xfrm>
          <a:prstGeom prst="roundRect">
            <a:avLst>
              <a:gd name="adj" fmla="val 50000"/>
            </a:avLst>
          </a:prstGeom>
          <a:solidFill>
            <a:srgbClr val="9BE8A8">
              <a:alpha val="22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9" name="s129"/>
          <p:cNvSpPr/>
          <p:nvPr/>
        </p:nvSpPr>
        <p:spPr>
          <a:xfrm>
            <a:off x="10795000" y="787400"/>
            <a:ext cx="482600" cy="63500"/>
          </a:xfrm>
          <a:prstGeom prst="roundRect">
            <a:avLst>
              <a:gd name="adj" fmla="val 50000"/>
            </a:avLst>
          </a:prstGeom>
          <a:solidFill>
            <a:srgbClr val="9BE8A8">
              <a:alpha val="22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30" name="s130"/>
          <p:cNvSpPr/>
          <p:nvPr/>
        </p:nvSpPr>
        <p:spPr>
          <a:xfrm>
            <a:off x="812800" y="482600"/>
            <a:ext cx="2540000" cy="355600"/>
          </a:xfrm>
          <a:prstGeom prst="roundRect">
            <a:avLst>
              <a:gd name="adj" fmla="val 50000"/>
            </a:avLst>
          </a:prstGeom>
          <a:solidFill>
            <a:srgbClr val="61E33D">
              <a:alpha val="12000"/>
            </a:srgbClr>
          </a:solidFill>
          <a:ln w="9525">
            <a:solidFill>
              <a:srgbClr val="61E33D">
                <a:alpha val="40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900" b="1" spc="70" dirty="0">
                <a:solidFill>
                  <a:srgbClr val="9BFF7A"/>
                </a:solidFill>
                <a:latin typeface="Poppins"/>
              </a:rPr>
              <a:t>SEMANA 1</a:t>
            </a:r>
          </a:p>
        </p:txBody>
      </p:sp>
      <p:sp>
        <p:nvSpPr>
          <p:cNvPr id="131" name="s131"/>
          <p:cNvSpPr/>
          <p:nvPr/>
        </p:nvSpPr>
        <p:spPr>
          <a:xfrm>
            <a:off x="812800" y="939800"/>
            <a:ext cx="105664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3000" b="1" dirty="0">
                <a:solidFill>
                  <a:srgbClr val="FFFFFF"/>
                </a:solidFill>
                <a:latin typeface="Poppins"/>
              </a:rPr>
              <a:t>Mesmo ponto de partida, </a:t>
            </a:r>
            <a:r>
              <a:rPr lang="pt-BR" sz="3000" b="1" dirty="0">
                <a:solidFill>
                  <a:srgbClr val="61E33D"/>
                </a:solidFill>
                <a:latin typeface="Poppins"/>
              </a:rPr>
              <a:t>trilhas que já se diferenciam</a:t>
            </a:r>
          </a:p>
        </p:txBody>
      </p:sp>
      <p:sp>
        <p:nvSpPr>
          <p:cNvPr id="132" name="s132"/>
          <p:cNvSpPr/>
          <p:nvPr/>
        </p:nvSpPr>
        <p:spPr>
          <a:xfrm>
            <a:off x="812800" y="16002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1300" dirty="0">
                <a:solidFill>
                  <a:srgbClr val="F0F7F3"/>
                </a:solidFill>
                <a:latin typeface="Aeonik"/>
              </a:rPr>
              <a:t>Fernanda aprofunda o negócio de crédito; Daniel navega junto, sem catalogar ainda.</a:t>
            </a:r>
          </a:p>
        </p:txBody>
      </p:sp>
      <p:sp>
        <p:nvSpPr>
          <p:cNvPr id="133" name="s133"/>
          <p:cNvSpPr/>
          <p:nvPr/>
        </p:nvSpPr>
        <p:spPr>
          <a:xfrm>
            <a:off x="812800" y="1981200"/>
            <a:ext cx="10566400" cy="12700"/>
          </a:xfrm>
          <a:prstGeom prst="rect">
            <a:avLst/>
          </a:prstGeom>
          <a:solidFill>
            <a:srgbClr val="9BE8A8">
              <a:alpha val="18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34" name="s134"/>
          <p:cNvSpPr/>
          <p:nvPr/>
        </p:nvSpPr>
        <p:spPr>
          <a:xfrm>
            <a:off x="812800" y="2184400"/>
            <a:ext cx="5003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1000" b="1" spc="40" dirty="0">
                <a:solidFill>
                  <a:srgbClr val="9BFF7A"/>
                </a:solidFill>
                <a:latin typeface="Poppins"/>
              </a:rPr>
              <a:t>FERNANDA · CRÉDITO &amp; COBRANÇA</a:t>
            </a:r>
          </a:p>
        </p:txBody>
      </p:sp>
      <p:sp>
        <p:nvSpPr>
          <p:cNvPr id="135" name="s135"/>
          <p:cNvSpPr/>
          <p:nvPr/>
        </p:nvSpPr>
        <p:spPr>
          <a:xfrm>
            <a:off x="812800" y="2540000"/>
            <a:ext cx="5003800" cy="18542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4000"/>
              </a:srgbClr>
            </a:solidFill>
          </a:ln>
        </p:spPr>
        <p:txBody>
          <a:bodyPr wrap="square" lIns="18" tIns="14" rIns="18" bIns="14" anchor="t">
            <a:noAutofit/>
          </a:bodyPr>
          <a:lstStyle/>
          <a:p>
            <a:pPr algn="l">
              <a:buNone/>
            </a:pPr>
            <a:r>
              <a:rPr lang="pt-BR" sz="1150" b="1" dirty="0">
                <a:solidFill>
                  <a:srgbClr val="FFFFFF"/>
                </a:solidFill>
                <a:latin typeface="Aeonik"/>
              </a:rPr>
              <a:t>Jornada de crédito</a:t>
            </a:r>
          </a:p>
          <a:p>
            <a:pPr algn="l">
              <a:spcBef>
                <a:spcPts val="300"/>
              </a:spcBef>
              <a:buNone/>
            </a:pPr>
            <a:r>
              <a:rPr lang="pt-BR" sz="1050" dirty="0">
                <a:solidFill>
                  <a:srgbClr val="F0F7F3"/>
                </a:solidFill>
                <a:latin typeface="Aeonik"/>
              </a:rPr>
              <a:t>Solicitação → Análise → Políticas → Limites → Aprovação/Reprovação → Formalização → Carteira → Cobrança</a:t>
            </a:r>
          </a:p>
          <a:p>
            <a:pPr algn="l">
              <a:spcBef>
                <a:spcPts val="500"/>
              </a:spcBef>
              <a:buNone/>
            </a:pPr>
            <a:r>
              <a:rPr lang="pt-BR" sz="1050" dirty="0">
                <a:solidFill>
                  <a:srgbClr val="F0F7F3"/>
                </a:solidFill>
                <a:latin typeface="Aeonik"/>
              </a:rPr>
              <a:t>Conceitos: limites, políticas, score, inadimplência, atraso, PDD, perda esperada, safras, maturação</a:t>
            </a:r>
          </a:p>
        </p:txBody>
      </p:sp>
      <p:sp>
        <p:nvSpPr>
          <p:cNvPr id="136" name="s136"/>
          <p:cNvSpPr/>
          <p:nvPr/>
        </p:nvSpPr>
        <p:spPr>
          <a:xfrm>
            <a:off x="812800" y="4521200"/>
            <a:ext cx="5003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900" b="1" spc="50" dirty="0">
                <a:solidFill>
                  <a:srgbClr val="E4EFE9"/>
                </a:solidFill>
                <a:latin typeface="Poppins"/>
              </a:rPr>
              <a:t>CONVERSAS</a:t>
            </a:r>
          </a:p>
        </p:txBody>
      </p:sp>
      <p:sp>
        <p:nvSpPr>
          <p:cNvPr id="137" name="s137"/>
          <p:cNvSpPr/>
          <p:nvPr/>
        </p:nvSpPr>
        <p:spPr>
          <a:xfrm>
            <a:off x="812800" y="4876800"/>
            <a:ext cx="101600" cy="101600"/>
          </a:xfrm>
          <a:prstGeom prst="ellipse">
            <a:avLst/>
          </a:prstGeom>
          <a:solidFill>
            <a:srgbClr val="61E33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38" name="s138"/>
          <p:cNvSpPr/>
          <p:nvPr/>
        </p:nvSpPr>
        <p:spPr>
          <a:xfrm>
            <a:off x="1016000" y="4787900"/>
            <a:ext cx="4800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1050" dirty="0">
                <a:solidFill>
                  <a:srgbClr val="F0F7F3"/>
                </a:solidFill>
                <a:latin typeface="Aeonik"/>
              </a:rPr>
              <a:t>Rafaella Silva — Crédito</a:t>
            </a:r>
          </a:p>
        </p:txBody>
      </p:sp>
      <p:sp>
        <p:nvSpPr>
          <p:cNvPr id="139" name="s139"/>
          <p:cNvSpPr/>
          <p:nvPr/>
        </p:nvSpPr>
        <p:spPr>
          <a:xfrm>
            <a:off x="812800" y="5181600"/>
            <a:ext cx="101600" cy="101600"/>
          </a:xfrm>
          <a:prstGeom prst="ellipse">
            <a:avLst/>
          </a:prstGeom>
          <a:solidFill>
            <a:srgbClr val="61E33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40" name="s140"/>
          <p:cNvSpPr/>
          <p:nvPr/>
        </p:nvSpPr>
        <p:spPr>
          <a:xfrm>
            <a:off x="1016000" y="5092700"/>
            <a:ext cx="4800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1050" dirty="0">
                <a:solidFill>
                  <a:srgbClr val="F0F7F3"/>
                </a:solidFill>
                <a:latin typeface="Aeonik"/>
              </a:rPr>
              <a:t>Nelson/</a:t>
            </a:r>
            <a:r>
              <a:rPr lang="pt-BR" sz="1050" dirty="0" err="1">
                <a:solidFill>
                  <a:srgbClr val="F0F7F3"/>
                </a:solidFill>
                <a:latin typeface="Aeonik"/>
              </a:rPr>
              <a:t>Antonio</a:t>
            </a:r>
            <a:r>
              <a:rPr lang="pt-BR" sz="1050" dirty="0">
                <a:solidFill>
                  <a:srgbClr val="F0F7F3"/>
                </a:solidFill>
                <a:latin typeface="Aeonik"/>
              </a:rPr>
              <a:t> — Compliance</a:t>
            </a:r>
          </a:p>
        </p:txBody>
      </p:sp>
      <p:sp>
        <p:nvSpPr>
          <p:cNvPr id="141" name="s141"/>
          <p:cNvSpPr/>
          <p:nvPr/>
        </p:nvSpPr>
        <p:spPr>
          <a:xfrm>
            <a:off x="812800" y="5486400"/>
            <a:ext cx="101600" cy="101600"/>
          </a:xfrm>
          <a:prstGeom prst="ellipse">
            <a:avLst/>
          </a:prstGeom>
          <a:solidFill>
            <a:srgbClr val="61E33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42" name="s142"/>
          <p:cNvSpPr/>
          <p:nvPr/>
        </p:nvSpPr>
        <p:spPr>
          <a:xfrm>
            <a:off x="1016000" y="5397500"/>
            <a:ext cx="4800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1050" dirty="0">
                <a:solidFill>
                  <a:srgbClr val="F0F7F3"/>
                </a:solidFill>
                <a:latin typeface="Aeonik"/>
              </a:rPr>
              <a:t>Daniel Peres (Produtos) — ótica de produto</a:t>
            </a:r>
          </a:p>
        </p:txBody>
      </p:sp>
      <p:sp>
        <p:nvSpPr>
          <p:cNvPr id="145" name="s145"/>
          <p:cNvSpPr/>
          <p:nvPr/>
        </p:nvSpPr>
        <p:spPr>
          <a:xfrm>
            <a:off x="812800" y="6146800"/>
            <a:ext cx="5003800" cy="431800"/>
          </a:xfrm>
          <a:prstGeom prst="roundRect">
            <a:avLst>
              <a:gd name="adj" fmla="val 20000"/>
            </a:avLst>
          </a:prstGeom>
          <a:solidFill>
            <a:srgbClr val="61E33D">
              <a:alpha val="10000"/>
            </a:srgbClr>
          </a:solidFill>
          <a:ln w="9525">
            <a:solidFill>
              <a:srgbClr val="61E33D">
                <a:alpha val="35000"/>
              </a:srgbClr>
            </a:solidFill>
          </a:ln>
        </p:spPr>
        <p:txBody>
          <a:bodyPr wrap="square" lIns="14" tIns="0" rIns="14" bIns="0" anchor="ctr">
            <a:noAutofit/>
          </a:bodyPr>
          <a:lstStyle/>
          <a:p>
            <a:pPr algn="l">
              <a:buNone/>
            </a:pPr>
            <a:r>
              <a:rPr lang="pt-BR" sz="950" b="1" dirty="0">
                <a:solidFill>
                  <a:srgbClr val="9BFF7A"/>
                </a:solidFill>
                <a:latin typeface="Poppins"/>
              </a:rPr>
              <a:t>ENTREGÁVEL: </a:t>
            </a:r>
            <a:r>
              <a:rPr lang="pt-BR" sz="950" dirty="0">
                <a:solidFill>
                  <a:srgbClr val="F0F7F3"/>
                </a:solidFill>
                <a:latin typeface="Aeonik"/>
              </a:rPr>
              <a:t>1ª versão visual da jornada de crédito</a:t>
            </a:r>
          </a:p>
        </p:txBody>
      </p:sp>
      <p:sp>
        <p:nvSpPr>
          <p:cNvPr id="146" name="s146"/>
          <p:cNvSpPr/>
          <p:nvPr/>
        </p:nvSpPr>
        <p:spPr>
          <a:xfrm>
            <a:off x="6375400" y="2184400"/>
            <a:ext cx="5003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1000" b="1" spc="40" dirty="0">
                <a:solidFill>
                  <a:srgbClr val="9BFF7A"/>
                </a:solidFill>
                <a:latin typeface="Poppins"/>
              </a:rPr>
              <a:t>DANIEL · PRODUCTS ANALYTICS</a:t>
            </a:r>
          </a:p>
        </p:txBody>
      </p:sp>
      <p:sp>
        <p:nvSpPr>
          <p:cNvPr id="147" name="s147"/>
          <p:cNvSpPr/>
          <p:nvPr/>
        </p:nvSpPr>
        <p:spPr>
          <a:xfrm>
            <a:off x="6375400" y="2540000"/>
            <a:ext cx="5003800" cy="18542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4000"/>
              </a:srgbClr>
            </a:solidFill>
          </a:ln>
        </p:spPr>
        <p:txBody>
          <a:bodyPr wrap="square" lIns="18" tIns="14" rIns="18" bIns="14" anchor="t">
            <a:noAutofit/>
          </a:bodyPr>
          <a:lstStyle/>
          <a:p>
            <a:pPr algn="l">
              <a:buNone/>
            </a:pPr>
            <a:r>
              <a:rPr lang="pt-BR" sz="1150" b="1" dirty="0">
                <a:solidFill>
                  <a:srgbClr val="FFFFFF"/>
                </a:solidFill>
                <a:latin typeface="Aeonik"/>
              </a:rPr>
              <a:t>Imersão junto com Fernanda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050" dirty="0">
                <a:solidFill>
                  <a:srgbClr val="F0F7F3"/>
                </a:solidFill>
                <a:latin typeface="Aeonik"/>
              </a:rPr>
              <a:t>Acessos · conversas com Data Science e Engenharia · materiais de passagem · exploração inicial das bases · conceitos fundamentais · navegação geral</a:t>
            </a:r>
          </a:p>
        </p:txBody>
      </p:sp>
      <p:sp>
        <p:nvSpPr>
          <p:cNvPr id="148" name="s148"/>
          <p:cNvSpPr/>
          <p:nvPr/>
        </p:nvSpPr>
        <p:spPr>
          <a:xfrm>
            <a:off x="6375400" y="4521200"/>
            <a:ext cx="5003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900" b="1" spc="50" dirty="0">
                <a:solidFill>
                  <a:srgbClr val="E4EFE9"/>
                </a:solidFill>
                <a:latin typeface="Poppins"/>
              </a:rPr>
              <a:t>POR QUE JUNTO</a:t>
            </a:r>
          </a:p>
        </p:txBody>
      </p:sp>
      <p:sp>
        <p:nvSpPr>
          <p:cNvPr id="149" name="s149"/>
          <p:cNvSpPr/>
          <p:nvPr/>
        </p:nvSpPr>
        <p:spPr>
          <a:xfrm>
            <a:off x="6375400" y="4876800"/>
            <a:ext cx="5003800" cy="1219200"/>
          </a:xfrm>
          <a:prstGeom prst="roundRect">
            <a:avLst>
              <a:gd name="adj" fmla="val 10000"/>
            </a:avLst>
          </a:prstGeom>
          <a:solidFill>
            <a:srgbClr val="61E33D">
              <a:alpha val="8000"/>
            </a:srgbClr>
          </a:solidFill>
          <a:ln w="9525">
            <a:solidFill>
              <a:srgbClr val="61E33D">
                <a:alpha val="30000"/>
              </a:srgbClr>
            </a:solidFill>
          </a:ln>
        </p:spPr>
        <p:txBody>
          <a:bodyPr wrap="square" lIns="16" tIns="12" rIns="16" bIns="12" anchor="t">
            <a:noAutofit/>
          </a:bodyPr>
          <a:lstStyle/>
          <a:p>
            <a:pPr algn="l">
              <a:buNone/>
            </a:pPr>
            <a:r>
              <a:rPr lang="pt-BR" sz="1100" dirty="0">
                <a:solidFill>
                  <a:srgbClr val="F0F7F3"/>
                </a:solidFill>
                <a:latin typeface="Aeonik"/>
              </a:rPr>
              <a:t>Ele não começa catalogando dashboards sem entender minimamente os processos, conceitos e dados associados.</a:t>
            </a:r>
          </a:p>
        </p:txBody>
      </p:sp>
      <p:sp>
        <p:nvSpPr>
          <p:cNvPr id="150" name="s150"/>
          <p:cNvSpPr/>
          <p:nvPr/>
        </p:nvSpPr>
        <p:spPr>
          <a:xfrm>
            <a:off x="6375400" y="6146800"/>
            <a:ext cx="5003800" cy="431800"/>
          </a:xfrm>
          <a:prstGeom prst="roundRect">
            <a:avLst>
              <a:gd name="adj" fmla="val 20000"/>
            </a:avLst>
          </a:prstGeom>
          <a:solidFill>
            <a:srgbClr val="61E33D">
              <a:alpha val="10000"/>
            </a:srgbClr>
          </a:solidFill>
          <a:ln w="9525">
            <a:solidFill>
              <a:srgbClr val="61E33D">
                <a:alpha val="35000"/>
              </a:srgbClr>
            </a:solidFill>
          </a:ln>
        </p:spPr>
        <p:txBody>
          <a:bodyPr wrap="square" lIns="14" tIns="0" rIns="14" bIns="0" anchor="ctr">
            <a:noAutofit/>
          </a:bodyPr>
          <a:lstStyle/>
          <a:p>
            <a:pPr algn="l">
              <a:buNone/>
            </a:pPr>
            <a:r>
              <a:rPr lang="pt-BR" sz="950" b="1" dirty="0">
                <a:solidFill>
                  <a:srgbClr val="9BFF7A"/>
                </a:solidFill>
                <a:latin typeface="Poppins"/>
              </a:rPr>
              <a:t>FOCO DA SEMANA: </a:t>
            </a:r>
            <a:r>
              <a:rPr lang="pt-BR" sz="950" dirty="0">
                <a:solidFill>
                  <a:srgbClr val="F0F7F3"/>
                </a:solidFill>
                <a:latin typeface="Aeonik"/>
              </a:rPr>
              <a:t>construir base conceitual antes de catalogar</a:t>
            </a:r>
          </a:p>
        </p:txBody>
      </p:sp>
    </p:spTree>
    <p:extLst>
      <p:ext uri="{BB962C8B-B14F-4D97-AF65-F5344CB8AC3E}">
        <p14:creationId xmlns:p14="http://schemas.microsoft.com/office/powerpoint/2010/main" val="3082973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558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1320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2" name="s102"/>
          <p:cNvSpPr/>
          <p:nvPr/>
        </p:nvSpPr>
        <p:spPr>
          <a:xfrm>
            <a:off x="2082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3" name="s103"/>
          <p:cNvSpPr/>
          <p:nvPr/>
        </p:nvSpPr>
        <p:spPr>
          <a:xfrm>
            <a:off x="2844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4" name="s104"/>
          <p:cNvSpPr/>
          <p:nvPr/>
        </p:nvSpPr>
        <p:spPr>
          <a:xfrm>
            <a:off x="3606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5" name="s105"/>
          <p:cNvSpPr/>
          <p:nvPr/>
        </p:nvSpPr>
        <p:spPr>
          <a:xfrm>
            <a:off x="4368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6" name="s106"/>
          <p:cNvSpPr/>
          <p:nvPr/>
        </p:nvSpPr>
        <p:spPr>
          <a:xfrm>
            <a:off x="5130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7" name="s107"/>
          <p:cNvSpPr/>
          <p:nvPr/>
        </p:nvSpPr>
        <p:spPr>
          <a:xfrm>
            <a:off x="5892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8" name="s108"/>
          <p:cNvSpPr/>
          <p:nvPr/>
        </p:nvSpPr>
        <p:spPr>
          <a:xfrm>
            <a:off x="6654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9" name="s109"/>
          <p:cNvSpPr/>
          <p:nvPr/>
        </p:nvSpPr>
        <p:spPr>
          <a:xfrm>
            <a:off x="7416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0" name="s110"/>
          <p:cNvSpPr/>
          <p:nvPr/>
        </p:nvSpPr>
        <p:spPr>
          <a:xfrm>
            <a:off x="8178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1" name="s111"/>
          <p:cNvSpPr/>
          <p:nvPr/>
        </p:nvSpPr>
        <p:spPr>
          <a:xfrm>
            <a:off x="8940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2" name="s112"/>
          <p:cNvSpPr/>
          <p:nvPr/>
        </p:nvSpPr>
        <p:spPr>
          <a:xfrm>
            <a:off x="9702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3" name="s113"/>
          <p:cNvSpPr/>
          <p:nvPr/>
        </p:nvSpPr>
        <p:spPr>
          <a:xfrm>
            <a:off x="10464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4" name="s114"/>
          <p:cNvSpPr/>
          <p:nvPr/>
        </p:nvSpPr>
        <p:spPr>
          <a:xfrm>
            <a:off x="11226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5" name="s115"/>
          <p:cNvSpPr/>
          <p:nvPr/>
        </p:nvSpPr>
        <p:spPr>
          <a:xfrm>
            <a:off x="558800" y="457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6" name="s116"/>
          <p:cNvSpPr/>
          <p:nvPr/>
        </p:nvSpPr>
        <p:spPr>
          <a:xfrm>
            <a:off x="558800" y="1219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7" name="s117"/>
          <p:cNvSpPr/>
          <p:nvPr/>
        </p:nvSpPr>
        <p:spPr>
          <a:xfrm>
            <a:off x="558800" y="1981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8" name="s118"/>
          <p:cNvSpPr/>
          <p:nvPr/>
        </p:nvSpPr>
        <p:spPr>
          <a:xfrm>
            <a:off x="558800" y="2743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9" name="s119"/>
          <p:cNvSpPr/>
          <p:nvPr/>
        </p:nvSpPr>
        <p:spPr>
          <a:xfrm>
            <a:off x="558800" y="3505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0" name="s120"/>
          <p:cNvSpPr/>
          <p:nvPr/>
        </p:nvSpPr>
        <p:spPr>
          <a:xfrm>
            <a:off x="558800" y="4267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1" name="s121"/>
          <p:cNvSpPr/>
          <p:nvPr/>
        </p:nvSpPr>
        <p:spPr>
          <a:xfrm>
            <a:off x="558800" y="5029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2" name="s122"/>
          <p:cNvSpPr/>
          <p:nvPr/>
        </p:nvSpPr>
        <p:spPr>
          <a:xfrm>
            <a:off x="558800" y="5791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3" name="s123"/>
          <p:cNvSpPr/>
          <p:nvPr/>
        </p:nvSpPr>
        <p:spPr>
          <a:xfrm>
            <a:off x="-1270000" y="-1270000"/>
            <a:ext cx="4826000" cy="4826000"/>
          </a:xfrm>
          <a:prstGeom prst="ellipse">
            <a:avLst/>
          </a:prstGeom>
          <a:gradFill>
            <a:gsLst>
              <a:gs pos="0">
                <a:srgbClr val="61E33D">
                  <a:alpha val="24000"/>
                </a:srgbClr>
              </a:gs>
              <a:gs pos="100000">
                <a:srgbClr val="61E33D">
                  <a:alpha val="0"/>
                </a:srgbClr>
              </a:gs>
            </a:gsLst>
            <a:path path="circle"/>
          </a:gradFill>
          <a:ln>
            <a:noFill/>
          </a:ln>
          <a:effectLst>
            <a:blur rad="457200"/>
          </a:effectLst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4" name="s124"/>
          <p:cNvSpPr/>
          <p:nvPr/>
        </p:nvSpPr>
        <p:spPr>
          <a:xfrm>
            <a:off x="558800" y="457200"/>
            <a:ext cx="50800" cy="5943600"/>
          </a:xfrm>
          <a:prstGeom prst="rect">
            <a:avLst/>
          </a:prstGeom>
          <a:gradFill>
            <a:gsLst>
              <a:gs pos="0">
                <a:srgbClr val="61E33D"/>
              </a:gs>
              <a:gs pos="100000">
                <a:srgbClr val="61E33D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5" name="s125"/>
          <p:cNvSpPr/>
          <p:nvPr/>
        </p:nvSpPr>
        <p:spPr>
          <a:xfrm>
            <a:off x="8890000" y="533400"/>
            <a:ext cx="2489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pt-BR" sz="800" b="1" spc="40" dirty="0">
                <a:solidFill>
                  <a:srgbClr val="E4EFE9"/>
                </a:solidFill>
                <a:latin typeface="Poppins"/>
              </a:rPr>
              <a:t>ETAPA 02 / 04 · SEMANA 2</a:t>
            </a:r>
          </a:p>
        </p:txBody>
      </p:sp>
      <p:sp>
        <p:nvSpPr>
          <p:cNvPr id="126" name="s126"/>
          <p:cNvSpPr/>
          <p:nvPr/>
        </p:nvSpPr>
        <p:spPr>
          <a:xfrm>
            <a:off x="8890000" y="787400"/>
            <a:ext cx="482600" cy="63500"/>
          </a:xfrm>
          <a:prstGeom prst="roundRect">
            <a:avLst>
              <a:gd name="adj" fmla="val 50000"/>
            </a:avLst>
          </a:prstGeom>
          <a:solidFill>
            <a:srgbClr val="61E33D">
              <a:alpha val="9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7" name="s127"/>
          <p:cNvSpPr/>
          <p:nvPr/>
        </p:nvSpPr>
        <p:spPr>
          <a:xfrm>
            <a:off x="9525000" y="787400"/>
            <a:ext cx="482600" cy="63500"/>
          </a:xfrm>
          <a:prstGeom prst="roundRect">
            <a:avLst>
              <a:gd name="adj" fmla="val 50000"/>
            </a:avLst>
          </a:prstGeom>
          <a:solidFill>
            <a:srgbClr val="61E33D">
              <a:alpha val="9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8" name="s128"/>
          <p:cNvSpPr/>
          <p:nvPr/>
        </p:nvSpPr>
        <p:spPr>
          <a:xfrm>
            <a:off x="10160000" y="787400"/>
            <a:ext cx="482600" cy="63500"/>
          </a:xfrm>
          <a:prstGeom prst="roundRect">
            <a:avLst>
              <a:gd name="adj" fmla="val 50000"/>
            </a:avLst>
          </a:prstGeom>
          <a:solidFill>
            <a:srgbClr val="9BE8A8">
              <a:alpha val="22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9" name="s129"/>
          <p:cNvSpPr/>
          <p:nvPr/>
        </p:nvSpPr>
        <p:spPr>
          <a:xfrm>
            <a:off x="10795000" y="787400"/>
            <a:ext cx="482600" cy="63500"/>
          </a:xfrm>
          <a:prstGeom prst="roundRect">
            <a:avLst>
              <a:gd name="adj" fmla="val 50000"/>
            </a:avLst>
          </a:prstGeom>
          <a:solidFill>
            <a:srgbClr val="9BE8A8">
              <a:alpha val="22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30" name="s130"/>
          <p:cNvSpPr/>
          <p:nvPr/>
        </p:nvSpPr>
        <p:spPr>
          <a:xfrm>
            <a:off x="812800" y="482600"/>
            <a:ext cx="2540000" cy="355600"/>
          </a:xfrm>
          <a:prstGeom prst="roundRect">
            <a:avLst>
              <a:gd name="adj" fmla="val 50000"/>
            </a:avLst>
          </a:prstGeom>
          <a:solidFill>
            <a:srgbClr val="61E33D">
              <a:alpha val="12000"/>
            </a:srgbClr>
          </a:solidFill>
          <a:ln w="9525">
            <a:solidFill>
              <a:srgbClr val="61E33D">
                <a:alpha val="40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900" b="1" spc="70" dirty="0">
                <a:solidFill>
                  <a:srgbClr val="9BFF7A"/>
                </a:solidFill>
                <a:latin typeface="Poppins"/>
              </a:rPr>
              <a:t>SEMANA 2</a:t>
            </a:r>
          </a:p>
        </p:txBody>
      </p:sp>
      <p:sp>
        <p:nvSpPr>
          <p:cNvPr id="131" name="s131"/>
          <p:cNvSpPr/>
          <p:nvPr/>
        </p:nvSpPr>
        <p:spPr>
          <a:xfrm>
            <a:off x="812800" y="939800"/>
            <a:ext cx="105664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3000" b="1" dirty="0">
                <a:solidFill>
                  <a:srgbClr val="FFFFFF"/>
                </a:solidFill>
                <a:latin typeface="Poppins"/>
              </a:rPr>
              <a:t>Do dado bruto ao </a:t>
            </a:r>
            <a:r>
              <a:rPr lang="pt-BR" sz="3000" b="1" dirty="0">
                <a:solidFill>
                  <a:srgbClr val="61E33D"/>
                </a:solidFill>
                <a:latin typeface="Poppins"/>
              </a:rPr>
              <a:t>diagnóstico documentado</a:t>
            </a:r>
          </a:p>
        </p:txBody>
      </p:sp>
      <p:sp>
        <p:nvSpPr>
          <p:cNvPr id="132" name="s132"/>
          <p:cNvSpPr/>
          <p:nvPr/>
        </p:nvSpPr>
        <p:spPr>
          <a:xfrm>
            <a:off x="812800" y="16002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1300" dirty="0">
                <a:solidFill>
                  <a:srgbClr val="F0F7F3"/>
                </a:solidFill>
                <a:latin typeface="Aeonik"/>
              </a:rPr>
              <a:t>Fernanda mergulha na tabela de solicitações; Daniel começa o inventário de dashboards.</a:t>
            </a:r>
          </a:p>
        </p:txBody>
      </p:sp>
      <p:sp>
        <p:nvSpPr>
          <p:cNvPr id="133" name="s133"/>
          <p:cNvSpPr/>
          <p:nvPr/>
        </p:nvSpPr>
        <p:spPr>
          <a:xfrm>
            <a:off x="812800" y="1981200"/>
            <a:ext cx="10566400" cy="12700"/>
          </a:xfrm>
          <a:prstGeom prst="rect">
            <a:avLst/>
          </a:prstGeom>
          <a:solidFill>
            <a:srgbClr val="9BE8A8">
              <a:alpha val="18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34" name="s134"/>
          <p:cNvSpPr/>
          <p:nvPr/>
        </p:nvSpPr>
        <p:spPr>
          <a:xfrm>
            <a:off x="812800" y="2184400"/>
            <a:ext cx="5003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1000" b="1" spc="30" dirty="0">
                <a:solidFill>
                  <a:srgbClr val="9BFF7A"/>
                </a:solidFill>
                <a:latin typeface="Poppins"/>
              </a:rPr>
              <a:t>FERNANDA · TABELA DE SOLICITAÇÕES</a:t>
            </a:r>
          </a:p>
        </p:txBody>
      </p:sp>
      <p:sp>
        <p:nvSpPr>
          <p:cNvPr id="135" name="s135"/>
          <p:cNvSpPr/>
          <p:nvPr/>
        </p:nvSpPr>
        <p:spPr>
          <a:xfrm>
            <a:off x="812800" y="2540000"/>
            <a:ext cx="5003800" cy="19050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4000"/>
              </a:srgbClr>
            </a:solidFill>
          </a:ln>
        </p:spPr>
        <p:txBody>
          <a:bodyPr wrap="square" lIns="18" tIns="14" rIns="18" bIns="14" anchor="t">
            <a:noAutofit/>
          </a:bodyPr>
          <a:lstStyle/>
          <a:p>
            <a:pPr algn="l">
              <a:buNone/>
            </a:pPr>
            <a:r>
              <a:rPr lang="pt-BR" sz="1150" b="1" dirty="0">
                <a:solidFill>
                  <a:srgbClr val="FFFFFF"/>
                </a:solidFill>
                <a:latin typeface="Aeonik"/>
              </a:rPr>
              <a:t>Documentar, não só explorar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050" dirty="0">
                <a:solidFill>
                  <a:srgbClr val="F0F7F3"/>
                </a:solidFill>
                <a:latin typeface="Aeonik"/>
              </a:rPr>
              <a:t>Onde está cada dado · granularidade · chaves · regras · histórico disponível · definições de negócio · problemas de qualidade · quem conhece cada assunto</a:t>
            </a:r>
          </a:p>
        </p:txBody>
      </p:sp>
      <p:sp>
        <p:nvSpPr>
          <p:cNvPr id="136" name="s136"/>
          <p:cNvSpPr/>
          <p:nvPr/>
        </p:nvSpPr>
        <p:spPr>
          <a:xfrm>
            <a:off x="812800" y="4572000"/>
            <a:ext cx="5003800" cy="1016000"/>
          </a:xfrm>
          <a:prstGeom prst="roundRect">
            <a:avLst>
              <a:gd name="adj" fmla="val 10000"/>
            </a:avLst>
          </a:prstGeom>
          <a:solidFill>
            <a:srgbClr val="61E33D">
              <a:alpha val="8000"/>
            </a:srgbClr>
          </a:solidFill>
          <a:ln w="9525">
            <a:solidFill>
              <a:srgbClr val="61E33D">
                <a:alpha val="30000"/>
              </a:srgbClr>
            </a:solidFill>
          </a:ln>
        </p:spPr>
        <p:txBody>
          <a:bodyPr wrap="square" lIns="16" tIns="10" rIns="16" bIns="10" anchor="t">
            <a:noAutofit/>
          </a:bodyPr>
          <a:lstStyle/>
          <a:p>
            <a:pPr algn="l">
              <a:buNone/>
            </a:pPr>
            <a:r>
              <a:rPr lang="pt-BR" sz="850" b="1" spc="40" dirty="0">
                <a:solidFill>
                  <a:srgbClr val="9BFF7A"/>
                </a:solidFill>
                <a:latin typeface="Poppins"/>
              </a:rPr>
              <a:t>DIAGNÓSTICO DA TABELA-CHAVE</a:t>
            </a:r>
          </a:p>
          <a:p>
            <a:pPr algn="l">
              <a:spcBef>
                <a:spcPts val="300"/>
              </a:spcBef>
              <a:buNone/>
            </a:pPr>
            <a:r>
              <a:rPr lang="pt-BR" sz="1000" dirty="0">
                <a:solidFill>
                  <a:srgbClr val="F0F7F3"/>
                </a:solidFill>
                <a:latin typeface="Aeonik"/>
              </a:rPr>
              <a:t>Estrutura atual → gaps → dúvidas de negócio → quem responde → entendimento consolidado</a:t>
            </a:r>
          </a:p>
        </p:txBody>
      </p:sp>
      <p:sp>
        <p:nvSpPr>
          <p:cNvPr id="137" name="s137"/>
          <p:cNvSpPr/>
          <p:nvPr/>
        </p:nvSpPr>
        <p:spPr>
          <a:xfrm>
            <a:off x="812800" y="5740400"/>
            <a:ext cx="5003800" cy="838200"/>
          </a:xfrm>
          <a:prstGeom prst="roundRect">
            <a:avLst>
              <a:gd name="adj" fmla="val 14000"/>
            </a:avLst>
          </a:prstGeom>
          <a:solidFill>
            <a:srgbClr val="61E33D">
              <a:alpha val="10000"/>
            </a:srgbClr>
          </a:solidFill>
          <a:ln w="9525">
            <a:solidFill>
              <a:srgbClr val="61E33D">
                <a:alpha val="35000"/>
              </a:srgbClr>
            </a:solidFill>
          </a:ln>
        </p:spPr>
        <p:txBody>
          <a:bodyPr wrap="square" lIns="14" tIns="10" rIns="14" bIns="10" anchor="t">
            <a:noAutofit/>
          </a:bodyPr>
          <a:lstStyle/>
          <a:p>
            <a:pPr algn="l">
              <a:buNone/>
            </a:pPr>
            <a:r>
              <a:rPr lang="pt-BR" sz="850" b="1" dirty="0">
                <a:solidFill>
                  <a:srgbClr val="9BFF7A"/>
                </a:solidFill>
                <a:latin typeface="Poppins"/>
              </a:rPr>
              <a:t>ENTREGÁVEL — MAPA DA TABELA DE SOLICITAÇÕES</a:t>
            </a:r>
          </a:p>
          <a:p>
            <a:pPr algn="l">
              <a:spcBef>
                <a:spcPts val="200"/>
              </a:spcBef>
              <a:buNone/>
            </a:pPr>
            <a:r>
              <a:rPr lang="pt-BR" sz="950" dirty="0">
                <a:solidFill>
                  <a:srgbClr val="F0F7F3"/>
                </a:solidFill>
                <a:latin typeface="Aeonik"/>
              </a:rPr>
              <a:t>Processo → informação → campo → regra → granularidade → chave → gap → responsável</a:t>
            </a:r>
          </a:p>
        </p:txBody>
      </p:sp>
      <p:sp>
        <p:nvSpPr>
          <p:cNvPr id="138" name="s138"/>
          <p:cNvSpPr/>
          <p:nvPr/>
        </p:nvSpPr>
        <p:spPr>
          <a:xfrm>
            <a:off x="6375400" y="2184400"/>
            <a:ext cx="5003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1000" b="1" spc="30" dirty="0">
                <a:solidFill>
                  <a:srgbClr val="9BFF7A"/>
                </a:solidFill>
                <a:latin typeface="Poppins"/>
              </a:rPr>
              <a:t>DANIEL · CATÁLOGO DE DASHBOARDS</a:t>
            </a:r>
          </a:p>
        </p:txBody>
      </p:sp>
      <p:sp>
        <p:nvSpPr>
          <p:cNvPr id="139" name="s139"/>
          <p:cNvSpPr/>
          <p:nvPr/>
        </p:nvSpPr>
        <p:spPr>
          <a:xfrm>
            <a:off x="6375400" y="2540000"/>
            <a:ext cx="5003800" cy="14986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4000"/>
              </a:srgbClr>
            </a:solidFill>
          </a:ln>
        </p:spPr>
        <p:txBody>
          <a:bodyPr wrap="square" lIns="18" tIns="14" rIns="18" bIns="14" anchor="t">
            <a:noAutofit/>
          </a:bodyPr>
          <a:lstStyle/>
          <a:p>
            <a:pPr algn="l">
              <a:buNone/>
            </a:pPr>
            <a:r>
              <a:rPr lang="pt-BR" sz="1150" b="1" dirty="0">
                <a:solidFill>
                  <a:srgbClr val="FFFFFF"/>
                </a:solidFill>
                <a:latin typeface="Aeonik"/>
              </a:rPr>
              <a:t>Para cada dashboard, registrar:</a:t>
            </a:r>
          </a:p>
          <a:p>
            <a:pPr algn="l">
              <a:spcBef>
                <a:spcPts val="300"/>
              </a:spcBef>
              <a:buNone/>
            </a:pPr>
            <a:r>
              <a:rPr lang="pt-BR" sz="1000" dirty="0">
                <a:solidFill>
                  <a:srgbClr val="F0F7F3"/>
                </a:solidFill>
                <a:latin typeface="Aeonik"/>
              </a:rPr>
              <a:t>Identificação · owners de negócio e técnico · finalidade · métricas · fonte/tabela · granularidade · frequência · público · criticidade · sobreposição · qualidade · documentação · recomendação</a:t>
            </a:r>
          </a:p>
        </p:txBody>
      </p:sp>
      <p:sp>
        <p:nvSpPr>
          <p:cNvPr id="140" name="s140"/>
          <p:cNvSpPr/>
          <p:nvPr/>
        </p:nvSpPr>
        <p:spPr>
          <a:xfrm>
            <a:off x="6375400" y="4165600"/>
            <a:ext cx="5003800" cy="1168400"/>
          </a:xfrm>
          <a:prstGeom prst="roundRect">
            <a:avLst>
              <a:gd name="adj" fmla="val 10000"/>
            </a:avLst>
          </a:prstGeom>
          <a:solidFill>
            <a:srgbClr val="61E33D">
              <a:alpha val="10000"/>
            </a:srgbClr>
          </a:solidFill>
          <a:ln w="9525">
            <a:solidFill>
              <a:srgbClr val="61E33D">
                <a:alpha val="35000"/>
              </a:srgbClr>
            </a:solidFill>
          </a:ln>
        </p:spPr>
        <p:txBody>
          <a:bodyPr wrap="square" lIns="16" tIns="10" rIns="16" bIns="10" anchor="t">
            <a:noAutofit/>
          </a:bodyPr>
          <a:lstStyle/>
          <a:p>
            <a:pPr algn="l">
              <a:buNone/>
            </a:pPr>
            <a:r>
              <a:rPr lang="pt-BR" sz="850" b="1" spc="40" dirty="0">
                <a:solidFill>
                  <a:srgbClr val="9BFF7A"/>
                </a:solidFill>
                <a:latin typeface="Poppins"/>
              </a:rPr>
              <a:t>PERGUNTA-CHAVE</a:t>
            </a:r>
          </a:p>
          <a:p>
            <a:pPr algn="l">
              <a:spcBef>
                <a:spcPts val="300"/>
              </a:spcBef>
              <a:buNone/>
            </a:pPr>
            <a:r>
              <a:rPr lang="pt-BR" sz="1100" dirty="0">
                <a:solidFill>
                  <a:srgbClr val="F0F7F3"/>
                </a:solidFill>
                <a:latin typeface="Aeonik"/>
              </a:rPr>
              <a:t>Os dashboards devem ser simples e seus cubos devem ser completos, capazes de responder quaisquer perguntas futuras.</a:t>
            </a:r>
          </a:p>
        </p:txBody>
      </p:sp>
      <p:sp>
        <p:nvSpPr>
          <p:cNvPr id="141" name="s141"/>
          <p:cNvSpPr/>
          <p:nvPr/>
        </p:nvSpPr>
        <p:spPr>
          <a:xfrm>
            <a:off x="6375400" y="5461000"/>
            <a:ext cx="5003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pt-BR" sz="900" b="1" dirty="0">
                <a:solidFill>
                  <a:srgbClr val="61E33D"/>
                </a:solidFill>
                <a:latin typeface="Poppins"/>
              </a:rPr>
              <a:t>MANTER</a:t>
            </a:r>
            <a:r>
              <a:rPr lang="pt-BR" sz="900" dirty="0">
                <a:solidFill>
                  <a:srgbClr val="E4EFE9"/>
                </a:solidFill>
                <a:latin typeface="Aeonik"/>
              </a:rPr>
              <a:t>   ·   </a:t>
            </a:r>
            <a:r>
              <a:rPr lang="pt-BR" sz="900" b="1" dirty="0">
                <a:solidFill>
                  <a:srgbClr val="9BFF7A"/>
                </a:solidFill>
                <a:latin typeface="Poppins"/>
              </a:rPr>
              <a:t>REVISAR</a:t>
            </a:r>
            <a:r>
              <a:rPr lang="pt-BR" sz="900" dirty="0">
                <a:solidFill>
                  <a:srgbClr val="E4EFE9"/>
                </a:solidFill>
                <a:latin typeface="Aeonik"/>
              </a:rPr>
              <a:t>   ·   </a:t>
            </a:r>
            <a:r>
              <a:rPr lang="pt-BR" sz="900" b="1" dirty="0">
                <a:solidFill>
                  <a:srgbClr val="9BFF7A"/>
                </a:solidFill>
                <a:latin typeface="Poppins"/>
              </a:rPr>
              <a:t>CONSOLIDAR</a:t>
            </a:r>
            <a:r>
              <a:rPr lang="pt-BR" sz="900" dirty="0">
                <a:solidFill>
                  <a:srgbClr val="E4EFE9"/>
                </a:solidFill>
                <a:latin typeface="Aeonik"/>
              </a:rPr>
              <a:t>   ·   </a:t>
            </a:r>
            <a:r>
              <a:rPr lang="pt-BR" sz="900" b="1" dirty="0">
                <a:solidFill>
                  <a:srgbClr val="9BFF7A"/>
                </a:solidFill>
                <a:latin typeface="Poppins"/>
              </a:rPr>
              <a:t>DESCONTINUAR</a:t>
            </a:r>
          </a:p>
        </p:txBody>
      </p:sp>
      <p:sp>
        <p:nvSpPr>
          <p:cNvPr id="142" name="s142"/>
          <p:cNvSpPr/>
          <p:nvPr/>
        </p:nvSpPr>
        <p:spPr>
          <a:xfrm>
            <a:off x="6375400" y="5969000"/>
            <a:ext cx="5003800" cy="609600"/>
          </a:xfrm>
          <a:prstGeom prst="roundRect">
            <a:avLst>
              <a:gd name="adj" fmla="val 20000"/>
            </a:avLst>
          </a:prstGeom>
          <a:solidFill>
            <a:srgbClr val="61E33D">
              <a:alpha val="10000"/>
            </a:srgbClr>
          </a:solidFill>
          <a:ln w="9525">
            <a:solidFill>
              <a:srgbClr val="61E33D">
                <a:alpha val="35000"/>
              </a:srgbClr>
            </a:solidFill>
          </a:ln>
        </p:spPr>
        <p:txBody>
          <a:bodyPr wrap="square" lIns="14" tIns="0" rIns="14" bIns="0" anchor="ctr">
            <a:noAutofit/>
          </a:bodyPr>
          <a:lstStyle/>
          <a:p>
            <a:pPr algn="l">
              <a:buNone/>
            </a:pPr>
            <a:r>
              <a:rPr lang="pt-BR" sz="950" b="1" dirty="0">
                <a:solidFill>
                  <a:srgbClr val="9BFF7A"/>
                </a:solidFill>
                <a:latin typeface="Poppins"/>
              </a:rPr>
              <a:t>ENTREGÁVEL: </a:t>
            </a:r>
            <a:r>
              <a:rPr lang="pt-BR" sz="950" dirty="0">
                <a:solidFill>
                  <a:srgbClr val="F0F7F3"/>
                </a:solidFill>
                <a:latin typeface="Aeonik"/>
              </a:rPr>
              <a:t>inventário e catalogação estruturada dos dashboards</a:t>
            </a:r>
          </a:p>
        </p:txBody>
      </p:sp>
    </p:spTree>
    <p:extLst>
      <p:ext uri="{BB962C8B-B14F-4D97-AF65-F5344CB8AC3E}">
        <p14:creationId xmlns:p14="http://schemas.microsoft.com/office/powerpoint/2010/main" val="2506479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558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1320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2" name="s102"/>
          <p:cNvSpPr/>
          <p:nvPr/>
        </p:nvSpPr>
        <p:spPr>
          <a:xfrm>
            <a:off x="2082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3" name="s103"/>
          <p:cNvSpPr/>
          <p:nvPr/>
        </p:nvSpPr>
        <p:spPr>
          <a:xfrm>
            <a:off x="2844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4" name="s104"/>
          <p:cNvSpPr/>
          <p:nvPr/>
        </p:nvSpPr>
        <p:spPr>
          <a:xfrm>
            <a:off x="3606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5" name="s105"/>
          <p:cNvSpPr/>
          <p:nvPr/>
        </p:nvSpPr>
        <p:spPr>
          <a:xfrm>
            <a:off x="4368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6" name="s106"/>
          <p:cNvSpPr/>
          <p:nvPr/>
        </p:nvSpPr>
        <p:spPr>
          <a:xfrm>
            <a:off x="5130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7" name="s107"/>
          <p:cNvSpPr/>
          <p:nvPr/>
        </p:nvSpPr>
        <p:spPr>
          <a:xfrm>
            <a:off x="5892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8" name="s108"/>
          <p:cNvSpPr/>
          <p:nvPr/>
        </p:nvSpPr>
        <p:spPr>
          <a:xfrm>
            <a:off x="6654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9" name="s109"/>
          <p:cNvSpPr/>
          <p:nvPr/>
        </p:nvSpPr>
        <p:spPr>
          <a:xfrm>
            <a:off x="7416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0" name="s110"/>
          <p:cNvSpPr/>
          <p:nvPr/>
        </p:nvSpPr>
        <p:spPr>
          <a:xfrm>
            <a:off x="8178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1" name="s111"/>
          <p:cNvSpPr/>
          <p:nvPr/>
        </p:nvSpPr>
        <p:spPr>
          <a:xfrm>
            <a:off x="8940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2" name="s112"/>
          <p:cNvSpPr/>
          <p:nvPr/>
        </p:nvSpPr>
        <p:spPr>
          <a:xfrm>
            <a:off x="9702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3" name="s113"/>
          <p:cNvSpPr/>
          <p:nvPr/>
        </p:nvSpPr>
        <p:spPr>
          <a:xfrm>
            <a:off x="10464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4" name="s114"/>
          <p:cNvSpPr/>
          <p:nvPr/>
        </p:nvSpPr>
        <p:spPr>
          <a:xfrm>
            <a:off x="11226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5" name="s115"/>
          <p:cNvSpPr/>
          <p:nvPr/>
        </p:nvSpPr>
        <p:spPr>
          <a:xfrm>
            <a:off x="558800" y="457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6" name="s116"/>
          <p:cNvSpPr/>
          <p:nvPr/>
        </p:nvSpPr>
        <p:spPr>
          <a:xfrm>
            <a:off x="558800" y="1219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7" name="s117"/>
          <p:cNvSpPr/>
          <p:nvPr/>
        </p:nvSpPr>
        <p:spPr>
          <a:xfrm>
            <a:off x="558800" y="1981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8" name="s118"/>
          <p:cNvSpPr/>
          <p:nvPr/>
        </p:nvSpPr>
        <p:spPr>
          <a:xfrm>
            <a:off x="558800" y="2743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9" name="s119"/>
          <p:cNvSpPr/>
          <p:nvPr/>
        </p:nvSpPr>
        <p:spPr>
          <a:xfrm>
            <a:off x="558800" y="3505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0" name="s120"/>
          <p:cNvSpPr/>
          <p:nvPr/>
        </p:nvSpPr>
        <p:spPr>
          <a:xfrm>
            <a:off x="558800" y="4267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1" name="s121"/>
          <p:cNvSpPr/>
          <p:nvPr/>
        </p:nvSpPr>
        <p:spPr>
          <a:xfrm>
            <a:off x="558800" y="5029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2" name="s122"/>
          <p:cNvSpPr/>
          <p:nvPr/>
        </p:nvSpPr>
        <p:spPr>
          <a:xfrm>
            <a:off x="558800" y="5791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3" name="s123"/>
          <p:cNvSpPr/>
          <p:nvPr/>
        </p:nvSpPr>
        <p:spPr>
          <a:xfrm>
            <a:off x="8636000" y="4445000"/>
            <a:ext cx="4572000" cy="4572000"/>
          </a:xfrm>
          <a:prstGeom prst="ellipse">
            <a:avLst/>
          </a:prstGeom>
          <a:gradFill>
            <a:gsLst>
              <a:gs pos="0">
                <a:srgbClr val="4F8406">
                  <a:alpha val="26000"/>
                </a:srgbClr>
              </a:gs>
              <a:gs pos="100000">
                <a:srgbClr val="4F8406">
                  <a:alpha val="0"/>
                </a:srgbClr>
              </a:gs>
            </a:gsLst>
            <a:path path="circle"/>
          </a:gradFill>
          <a:ln>
            <a:noFill/>
          </a:ln>
          <a:effectLst>
            <a:blur rad="457200"/>
          </a:effectLst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4" name="s124"/>
          <p:cNvSpPr/>
          <p:nvPr/>
        </p:nvSpPr>
        <p:spPr>
          <a:xfrm>
            <a:off x="558800" y="457200"/>
            <a:ext cx="50800" cy="5943600"/>
          </a:xfrm>
          <a:prstGeom prst="rect">
            <a:avLst/>
          </a:prstGeom>
          <a:gradFill>
            <a:gsLst>
              <a:gs pos="0">
                <a:srgbClr val="61E33D"/>
              </a:gs>
              <a:gs pos="100000">
                <a:srgbClr val="61E33D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5" name="s125"/>
          <p:cNvSpPr/>
          <p:nvPr/>
        </p:nvSpPr>
        <p:spPr>
          <a:xfrm>
            <a:off x="8890000" y="533400"/>
            <a:ext cx="2489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pt-BR" sz="800" b="1" spc="40" dirty="0">
                <a:solidFill>
                  <a:srgbClr val="E4EFE9"/>
                </a:solidFill>
                <a:latin typeface="Poppins"/>
              </a:rPr>
              <a:t>ETAPA 03 / 04 · SEMANA 3</a:t>
            </a:r>
          </a:p>
        </p:txBody>
      </p:sp>
      <p:sp>
        <p:nvSpPr>
          <p:cNvPr id="126" name="s126"/>
          <p:cNvSpPr/>
          <p:nvPr/>
        </p:nvSpPr>
        <p:spPr>
          <a:xfrm>
            <a:off x="8890000" y="787400"/>
            <a:ext cx="482600" cy="63500"/>
          </a:xfrm>
          <a:prstGeom prst="roundRect">
            <a:avLst>
              <a:gd name="adj" fmla="val 50000"/>
            </a:avLst>
          </a:prstGeom>
          <a:solidFill>
            <a:srgbClr val="61E33D">
              <a:alpha val="9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7" name="s127"/>
          <p:cNvSpPr/>
          <p:nvPr/>
        </p:nvSpPr>
        <p:spPr>
          <a:xfrm>
            <a:off x="9525000" y="787400"/>
            <a:ext cx="482600" cy="63500"/>
          </a:xfrm>
          <a:prstGeom prst="roundRect">
            <a:avLst>
              <a:gd name="adj" fmla="val 50000"/>
            </a:avLst>
          </a:prstGeom>
          <a:solidFill>
            <a:srgbClr val="61E33D">
              <a:alpha val="9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8" name="s128"/>
          <p:cNvSpPr/>
          <p:nvPr/>
        </p:nvSpPr>
        <p:spPr>
          <a:xfrm>
            <a:off x="10160000" y="787400"/>
            <a:ext cx="482600" cy="63500"/>
          </a:xfrm>
          <a:prstGeom prst="roundRect">
            <a:avLst>
              <a:gd name="adj" fmla="val 50000"/>
            </a:avLst>
          </a:prstGeom>
          <a:solidFill>
            <a:srgbClr val="61E33D">
              <a:alpha val="9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9" name="s129"/>
          <p:cNvSpPr/>
          <p:nvPr/>
        </p:nvSpPr>
        <p:spPr>
          <a:xfrm>
            <a:off x="10795000" y="787400"/>
            <a:ext cx="482600" cy="63500"/>
          </a:xfrm>
          <a:prstGeom prst="roundRect">
            <a:avLst>
              <a:gd name="adj" fmla="val 50000"/>
            </a:avLst>
          </a:prstGeom>
          <a:solidFill>
            <a:srgbClr val="9BE8A8">
              <a:alpha val="22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30" name="s130"/>
          <p:cNvSpPr/>
          <p:nvPr/>
        </p:nvSpPr>
        <p:spPr>
          <a:xfrm>
            <a:off x="812800" y="482600"/>
            <a:ext cx="2540000" cy="355600"/>
          </a:xfrm>
          <a:prstGeom prst="roundRect">
            <a:avLst>
              <a:gd name="adj" fmla="val 50000"/>
            </a:avLst>
          </a:prstGeom>
          <a:solidFill>
            <a:srgbClr val="61E33D">
              <a:alpha val="12000"/>
            </a:srgbClr>
          </a:solidFill>
          <a:ln w="9525">
            <a:solidFill>
              <a:srgbClr val="61E33D">
                <a:alpha val="40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900" b="1" spc="70" dirty="0">
                <a:solidFill>
                  <a:srgbClr val="9BFF7A"/>
                </a:solidFill>
                <a:latin typeface="Poppins"/>
              </a:rPr>
              <a:t>SEMANA 3</a:t>
            </a:r>
          </a:p>
        </p:txBody>
      </p:sp>
      <p:sp>
        <p:nvSpPr>
          <p:cNvPr id="131" name="s131"/>
          <p:cNvSpPr/>
          <p:nvPr/>
        </p:nvSpPr>
        <p:spPr>
          <a:xfrm>
            <a:off x="812800" y="939800"/>
            <a:ext cx="105664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3000" b="1" dirty="0">
                <a:solidFill>
                  <a:srgbClr val="FFFFFF"/>
                </a:solidFill>
                <a:latin typeface="Poppins"/>
              </a:rPr>
              <a:t>Conhecimento aplicado </a:t>
            </a:r>
            <a:r>
              <a:rPr lang="pt-BR" sz="3000" b="1" dirty="0">
                <a:solidFill>
                  <a:srgbClr val="61E33D"/>
                </a:solidFill>
                <a:latin typeface="Poppins"/>
              </a:rPr>
              <a:t>em estudo real</a:t>
            </a:r>
          </a:p>
        </p:txBody>
      </p:sp>
      <p:sp>
        <p:nvSpPr>
          <p:cNvPr id="132" name="s132"/>
          <p:cNvSpPr/>
          <p:nvPr/>
        </p:nvSpPr>
        <p:spPr>
          <a:xfrm>
            <a:off x="812800" y="16002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1300" dirty="0">
                <a:solidFill>
                  <a:srgbClr val="F0F7F3"/>
                </a:solidFill>
                <a:latin typeface="Aeonik"/>
              </a:rPr>
              <a:t>Fernanda refaz um estudo existente; Daniel avalia o que fazer com a estrutura de dashboards.</a:t>
            </a:r>
          </a:p>
        </p:txBody>
      </p:sp>
      <p:sp>
        <p:nvSpPr>
          <p:cNvPr id="133" name="s133"/>
          <p:cNvSpPr/>
          <p:nvPr/>
        </p:nvSpPr>
        <p:spPr>
          <a:xfrm>
            <a:off x="812800" y="1981200"/>
            <a:ext cx="10566400" cy="12700"/>
          </a:xfrm>
          <a:prstGeom prst="rect">
            <a:avLst/>
          </a:prstGeom>
          <a:solidFill>
            <a:srgbClr val="9BE8A8">
              <a:alpha val="18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34" name="s134"/>
          <p:cNvSpPr/>
          <p:nvPr/>
        </p:nvSpPr>
        <p:spPr>
          <a:xfrm>
            <a:off x="812800" y="2184400"/>
            <a:ext cx="5003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1000" b="1" spc="30" dirty="0">
                <a:solidFill>
                  <a:srgbClr val="9BFF7A"/>
                </a:solidFill>
                <a:latin typeface="Poppins"/>
              </a:rPr>
              <a:t>FERNANDA · ESTUDO + FLUXO</a:t>
            </a:r>
          </a:p>
        </p:txBody>
      </p:sp>
      <p:sp>
        <p:nvSpPr>
          <p:cNvPr id="135" name="s135"/>
          <p:cNvSpPr/>
          <p:nvPr/>
        </p:nvSpPr>
        <p:spPr>
          <a:xfrm>
            <a:off x="812800" y="2540000"/>
            <a:ext cx="5003800" cy="13970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4000"/>
              </a:srgbClr>
            </a:solidFill>
          </a:ln>
        </p:spPr>
        <p:txBody>
          <a:bodyPr wrap="square" lIns="18" tIns="14" rIns="18" bIns="14" anchor="t">
            <a:noAutofit/>
          </a:bodyPr>
          <a:lstStyle/>
          <a:p>
            <a:pPr algn="l">
              <a:buNone/>
            </a:pPr>
            <a:r>
              <a:rPr lang="pt-BR" sz="1150" b="1" dirty="0">
                <a:solidFill>
                  <a:srgbClr val="FFFFFF"/>
                </a:solidFill>
                <a:latin typeface="Aeonik"/>
              </a:rPr>
              <a:t>Estudo de aprovação da Nutrien</a:t>
            </a:r>
          </a:p>
          <a:p>
            <a:pPr algn="l">
              <a:spcBef>
                <a:spcPts val="300"/>
              </a:spcBef>
              <a:buNone/>
            </a:pPr>
            <a:r>
              <a:rPr lang="pt-BR" sz="1050" dirty="0">
                <a:solidFill>
                  <a:srgbClr val="F0F7F3"/>
                </a:solidFill>
                <a:latin typeface="Aeonik"/>
              </a:rPr>
              <a:t>Refazer e melhorar (layout, automação das simulações, novas visões)</a:t>
            </a:r>
          </a:p>
        </p:txBody>
      </p:sp>
      <p:sp>
        <p:nvSpPr>
          <p:cNvPr id="136" name="s136"/>
          <p:cNvSpPr/>
          <p:nvPr/>
        </p:nvSpPr>
        <p:spPr>
          <a:xfrm>
            <a:off x="812800" y="4038600"/>
            <a:ext cx="5003800" cy="889000"/>
          </a:xfrm>
          <a:prstGeom prst="roundRect">
            <a:avLst>
              <a:gd name="adj" fmla="val 10000"/>
            </a:avLst>
          </a:prstGeom>
          <a:solidFill>
            <a:srgbClr val="61E33D">
              <a:alpha val="10000"/>
            </a:srgbClr>
          </a:solidFill>
          <a:ln w="9525">
            <a:solidFill>
              <a:srgbClr val="61E33D">
                <a:alpha val="35000"/>
              </a:srgbClr>
            </a:solidFill>
          </a:ln>
        </p:spPr>
        <p:txBody>
          <a:bodyPr wrap="square" lIns="16" tIns="10" rIns="16" bIns="10" anchor="t">
            <a:noAutofit/>
          </a:bodyPr>
          <a:lstStyle/>
          <a:p>
            <a:pPr algn="l">
              <a:buNone/>
            </a:pPr>
            <a:r>
              <a:rPr lang="pt-BR" sz="850" b="1" spc="30" dirty="0">
                <a:solidFill>
                  <a:srgbClr val="9BFF7A"/>
                </a:solidFill>
                <a:latin typeface="Poppins"/>
              </a:rPr>
              <a:t>+ ANÁLISE FAIXA A FAIXA</a:t>
            </a:r>
          </a:p>
          <a:p>
            <a:pPr algn="l">
              <a:spcBef>
                <a:spcPts val="300"/>
              </a:spcBef>
              <a:buNone/>
            </a:pPr>
            <a:r>
              <a:rPr lang="pt-BR" sz="1000" dirty="0">
                <a:solidFill>
                  <a:srgbClr val="F0F7F3"/>
                </a:solidFill>
                <a:latin typeface="Aeonik"/>
              </a:rPr>
              <a:t>Percentual de arrendatário incorporado ao estudo, não como atividade isolada</a:t>
            </a:r>
          </a:p>
        </p:txBody>
      </p:sp>
      <p:sp>
        <p:nvSpPr>
          <p:cNvPr id="137" name="s137"/>
          <p:cNvSpPr/>
          <p:nvPr/>
        </p:nvSpPr>
        <p:spPr>
          <a:xfrm>
            <a:off x="812800" y="5054600"/>
            <a:ext cx="5003800" cy="15240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4000"/>
              </a:srgbClr>
            </a:solidFill>
          </a:ln>
        </p:spPr>
        <p:txBody>
          <a:bodyPr wrap="square" lIns="18" tIns="14" rIns="18" bIns="14" anchor="t">
            <a:noAutofit/>
          </a:bodyPr>
          <a:lstStyle/>
          <a:p>
            <a:pPr algn="l">
              <a:buNone/>
            </a:pPr>
            <a:r>
              <a:rPr lang="pt-BR" sz="1150" b="1" dirty="0">
                <a:solidFill>
                  <a:srgbClr val="FFFFFF"/>
                </a:solidFill>
                <a:latin typeface="Aeonik"/>
              </a:rPr>
              <a:t>Evoluir o fluxo de crédito</a:t>
            </a:r>
          </a:p>
          <a:p>
            <a:pPr algn="l">
              <a:spcBef>
                <a:spcPts val="300"/>
              </a:spcBef>
              <a:buNone/>
            </a:pPr>
            <a:r>
              <a:rPr lang="pt-BR" sz="1050" dirty="0">
                <a:solidFill>
                  <a:srgbClr val="F0F7F3"/>
                </a:solidFill>
                <a:latin typeface="Aeonik"/>
              </a:rPr>
              <a:t>Com Daniel Peres e Lara, conectando: Etapa → regra → dado → tabela → decisão</a:t>
            </a:r>
          </a:p>
        </p:txBody>
      </p:sp>
      <p:sp>
        <p:nvSpPr>
          <p:cNvPr id="138" name="s138"/>
          <p:cNvSpPr/>
          <p:nvPr/>
        </p:nvSpPr>
        <p:spPr>
          <a:xfrm>
            <a:off x="6375400" y="2184400"/>
            <a:ext cx="5003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1000" b="1" spc="30" dirty="0">
                <a:solidFill>
                  <a:srgbClr val="9BFF7A"/>
                </a:solidFill>
                <a:latin typeface="Poppins"/>
              </a:rPr>
              <a:t>DANIEL · RACIONALIZAÇÃO</a:t>
            </a:r>
          </a:p>
        </p:txBody>
      </p:sp>
      <p:sp>
        <p:nvSpPr>
          <p:cNvPr id="900" name="s900"/>
          <p:cNvSpPr/>
          <p:nvPr/>
        </p:nvSpPr>
        <p:spPr>
          <a:xfrm>
            <a:off x="6375400" y="2540000"/>
            <a:ext cx="5003800" cy="13970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4000"/>
              </a:srgbClr>
            </a:solidFill>
          </a:ln>
        </p:spPr>
        <p:txBody>
          <a:bodyPr wrap="square" lIns="18" tIns="12" rIns="18" bIns="12" anchor="t">
            <a:noAutofit/>
          </a:bodyPr>
          <a:lstStyle/>
          <a:p>
            <a:pPr algn="l">
              <a:buNone/>
            </a:pPr>
            <a:r>
              <a:rPr lang="pt-BR" sz="1100" b="1" dirty="0">
                <a:solidFill>
                  <a:srgbClr val="FFFFFF"/>
                </a:solidFill>
                <a:latin typeface="Aeonik"/>
              </a:rPr>
              <a:t>Para cada conjunto de dashboards:</a:t>
            </a:r>
          </a:p>
          <a:p>
            <a:pPr algn="l">
              <a:spcBef>
                <a:spcPts val="250"/>
              </a:spcBef>
              <a:buNone/>
            </a:pPr>
            <a:r>
              <a:rPr lang="pt-BR" sz="1000" dirty="0">
                <a:solidFill>
                  <a:srgbClr val="F0F7F3"/>
                </a:solidFill>
                <a:latin typeface="Aeonik"/>
              </a:rPr>
              <a:t>O que é usado? Há conteúdo repetido ou combinável? One-pages ou um produto com abas? O cubo é completo e fácil de ser atualizado?</a:t>
            </a:r>
          </a:p>
        </p:txBody>
      </p:sp>
      <p:sp>
        <p:nvSpPr>
          <p:cNvPr id="901" name="s901"/>
          <p:cNvSpPr/>
          <p:nvPr/>
        </p:nvSpPr>
        <p:spPr>
          <a:xfrm>
            <a:off x="6375400" y="4038600"/>
            <a:ext cx="5003800" cy="889000"/>
          </a:xfrm>
          <a:prstGeom prst="roundRect">
            <a:avLst>
              <a:gd name="adj" fmla="val 10000"/>
            </a:avLst>
          </a:prstGeom>
          <a:solidFill>
            <a:srgbClr val="61E33D">
              <a:alpha val="10000"/>
            </a:srgbClr>
          </a:solidFill>
          <a:ln w="9525">
            <a:solidFill>
              <a:srgbClr val="61E33D">
                <a:alpha val="35000"/>
              </a:srgbClr>
            </a:solidFill>
          </a:ln>
        </p:spPr>
        <p:txBody>
          <a:bodyPr wrap="square" lIns="16" tIns="10" rIns="16" bIns="10" anchor="t">
            <a:noAutofit/>
          </a:bodyPr>
          <a:lstStyle/>
          <a:p>
            <a:pPr algn="l">
              <a:buNone/>
            </a:pPr>
            <a:r>
              <a:rPr lang="pt-BR" sz="850" b="1" spc="30" dirty="0">
                <a:solidFill>
                  <a:srgbClr val="9BFF7A"/>
                </a:solidFill>
                <a:latin typeface="Poppins"/>
              </a:rPr>
              <a:t>CLASSIFICAÇÃO</a:t>
            </a:r>
          </a:p>
          <a:p>
            <a:pPr algn="l">
              <a:spcBef>
                <a:spcPts val="250"/>
              </a:spcBef>
              <a:buNone/>
            </a:pPr>
            <a:r>
              <a:rPr lang="pt-BR" sz="1000" dirty="0">
                <a:solidFill>
                  <a:srgbClr val="F0F7F3"/>
                </a:solidFill>
                <a:latin typeface="Aeonik"/>
              </a:rPr>
              <a:t>Manter · Revisar · Consolidar · Descontinuar — mapear possibilidades, não decidir ainda</a:t>
            </a:r>
          </a:p>
        </p:txBody>
      </p:sp>
      <p:sp>
        <p:nvSpPr>
          <p:cNvPr id="902" name="s902"/>
          <p:cNvSpPr/>
          <p:nvPr/>
        </p:nvSpPr>
        <p:spPr>
          <a:xfrm>
            <a:off x="6375400" y="5054600"/>
            <a:ext cx="5003800" cy="15240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4000"/>
              </a:srgbClr>
            </a:solidFill>
          </a:ln>
        </p:spPr>
        <p:txBody>
          <a:bodyPr wrap="square" lIns="18" tIns="14" rIns="18" bIns="14" anchor="t">
            <a:noAutofit/>
          </a:bodyPr>
          <a:lstStyle/>
          <a:p>
            <a:pPr algn="l">
              <a:buNone/>
            </a:pPr>
            <a:r>
              <a:rPr lang="pt-BR" sz="1150" b="1" dirty="0">
                <a:solidFill>
                  <a:srgbClr val="FFFFFF"/>
                </a:solidFill>
                <a:latin typeface="Aeonik"/>
              </a:rPr>
              <a:t>Entregável da semana</a:t>
            </a:r>
          </a:p>
          <a:p>
            <a:pPr algn="l">
              <a:spcBef>
                <a:spcPts val="300"/>
              </a:spcBef>
              <a:buNone/>
            </a:pPr>
            <a:r>
              <a:rPr lang="pt-BR" sz="1050" dirty="0">
                <a:solidFill>
                  <a:srgbClr val="F0F7F3"/>
                </a:solidFill>
                <a:latin typeface="Aeonik"/>
              </a:rPr>
              <a:t>1ª proposta de racionalização da estrutura de dashboards, com possibilidades mapeadas para cada conjunto</a:t>
            </a:r>
          </a:p>
        </p:txBody>
      </p:sp>
    </p:spTree>
    <p:extLst>
      <p:ext uri="{BB962C8B-B14F-4D97-AF65-F5344CB8AC3E}">
        <p14:creationId xmlns:p14="http://schemas.microsoft.com/office/powerpoint/2010/main" val="729103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558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1320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2" name="s102"/>
          <p:cNvSpPr/>
          <p:nvPr/>
        </p:nvSpPr>
        <p:spPr>
          <a:xfrm>
            <a:off x="2082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3" name="s103"/>
          <p:cNvSpPr/>
          <p:nvPr/>
        </p:nvSpPr>
        <p:spPr>
          <a:xfrm>
            <a:off x="2844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4" name="s104"/>
          <p:cNvSpPr/>
          <p:nvPr/>
        </p:nvSpPr>
        <p:spPr>
          <a:xfrm>
            <a:off x="3606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5" name="s105"/>
          <p:cNvSpPr/>
          <p:nvPr/>
        </p:nvSpPr>
        <p:spPr>
          <a:xfrm>
            <a:off x="4368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6" name="s106"/>
          <p:cNvSpPr/>
          <p:nvPr/>
        </p:nvSpPr>
        <p:spPr>
          <a:xfrm>
            <a:off x="5130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7" name="s107"/>
          <p:cNvSpPr/>
          <p:nvPr/>
        </p:nvSpPr>
        <p:spPr>
          <a:xfrm>
            <a:off x="5892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8" name="s108"/>
          <p:cNvSpPr/>
          <p:nvPr/>
        </p:nvSpPr>
        <p:spPr>
          <a:xfrm>
            <a:off x="6654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9" name="s109"/>
          <p:cNvSpPr/>
          <p:nvPr/>
        </p:nvSpPr>
        <p:spPr>
          <a:xfrm>
            <a:off x="7416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0" name="s110"/>
          <p:cNvSpPr/>
          <p:nvPr/>
        </p:nvSpPr>
        <p:spPr>
          <a:xfrm>
            <a:off x="8178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1" name="s111"/>
          <p:cNvSpPr/>
          <p:nvPr/>
        </p:nvSpPr>
        <p:spPr>
          <a:xfrm>
            <a:off x="8940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2" name="s112"/>
          <p:cNvSpPr/>
          <p:nvPr/>
        </p:nvSpPr>
        <p:spPr>
          <a:xfrm>
            <a:off x="9702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3" name="s113"/>
          <p:cNvSpPr/>
          <p:nvPr/>
        </p:nvSpPr>
        <p:spPr>
          <a:xfrm>
            <a:off x="10464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4" name="s114"/>
          <p:cNvSpPr/>
          <p:nvPr/>
        </p:nvSpPr>
        <p:spPr>
          <a:xfrm>
            <a:off x="11226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5" name="s115"/>
          <p:cNvSpPr/>
          <p:nvPr/>
        </p:nvSpPr>
        <p:spPr>
          <a:xfrm>
            <a:off x="558800" y="457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6" name="s116"/>
          <p:cNvSpPr/>
          <p:nvPr/>
        </p:nvSpPr>
        <p:spPr>
          <a:xfrm>
            <a:off x="558800" y="1219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7" name="s117"/>
          <p:cNvSpPr/>
          <p:nvPr/>
        </p:nvSpPr>
        <p:spPr>
          <a:xfrm>
            <a:off x="558800" y="1981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8" name="s118"/>
          <p:cNvSpPr/>
          <p:nvPr/>
        </p:nvSpPr>
        <p:spPr>
          <a:xfrm>
            <a:off x="558800" y="2743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9" name="s119"/>
          <p:cNvSpPr/>
          <p:nvPr/>
        </p:nvSpPr>
        <p:spPr>
          <a:xfrm>
            <a:off x="558800" y="3505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0" name="s120"/>
          <p:cNvSpPr/>
          <p:nvPr/>
        </p:nvSpPr>
        <p:spPr>
          <a:xfrm>
            <a:off x="558800" y="4267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1" name="s121"/>
          <p:cNvSpPr/>
          <p:nvPr/>
        </p:nvSpPr>
        <p:spPr>
          <a:xfrm>
            <a:off x="558800" y="5029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2" name="s122"/>
          <p:cNvSpPr/>
          <p:nvPr/>
        </p:nvSpPr>
        <p:spPr>
          <a:xfrm>
            <a:off x="558800" y="5791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3" name="s123"/>
          <p:cNvSpPr/>
          <p:nvPr/>
        </p:nvSpPr>
        <p:spPr>
          <a:xfrm>
            <a:off x="8636000" y="-1016000"/>
            <a:ext cx="4826000" cy="4826000"/>
          </a:xfrm>
          <a:prstGeom prst="ellipse">
            <a:avLst/>
          </a:prstGeom>
          <a:gradFill>
            <a:gsLst>
              <a:gs pos="0">
                <a:srgbClr val="61E33D">
                  <a:alpha val="28000"/>
                </a:srgbClr>
              </a:gs>
              <a:gs pos="100000">
                <a:srgbClr val="61E33D">
                  <a:alpha val="0"/>
                </a:srgbClr>
              </a:gs>
            </a:gsLst>
            <a:path path="circle"/>
          </a:gradFill>
          <a:ln>
            <a:noFill/>
          </a:ln>
          <a:effectLst>
            <a:blur rad="457200"/>
          </a:effectLst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4" name="s124"/>
          <p:cNvSpPr/>
          <p:nvPr/>
        </p:nvSpPr>
        <p:spPr>
          <a:xfrm>
            <a:off x="558800" y="457200"/>
            <a:ext cx="50800" cy="5943600"/>
          </a:xfrm>
          <a:prstGeom prst="rect">
            <a:avLst/>
          </a:prstGeom>
          <a:gradFill>
            <a:gsLst>
              <a:gs pos="0">
                <a:srgbClr val="61E33D"/>
              </a:gs>
              <a:gs pos="100000">
                <a:srgbClr val="61E33D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5" name="s125"/>
          <p:cNvSpPr/>
          <p:nvPr/>
        </p:nvSpPr>
        <p:spPr>
          <a:xfrm>
            <a:off x="8890000" y="533400"/>
            <a:ext cx="2489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pt-BR" sz="800" b="1" spc="40" dirty="0">
                <a:solidFill>
                  <a:srgbClr val="E4EFE9"/>
                </a:solidFill>
                <a:latin typeface="Poppins"/>
              </a:rPr>
              <a:t>ETAPA 04 / 04 · SEMANA 4</a:t>
            </a:r>
          </a:p>
        </p:txBody>
      </p:sp>
      <p:sp>
        <p:nvSpPr>
          <p:cNvPr id="126" name="s126"/>
          <p:cNvSpPr/>
          <p:nvPr/>
        </p:nvSpPr>
        <p:spPr>
          <a:xfrm>
            <a:off x="8890000" y="787400"/>
            <a:ext cx="482600" cy="63500"/>
          </a:xfrm>
          <a:prstGeom prst="roundRect">
            <a:avLst>
              <a:gd name="adj" fmla="val 50000"/>
            </a:avLst>
          </a:prstGeom>
          <a:solidFill>
            <a:srgbClr val="61E33D">
              <a:alpha val="9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7" name="s127"/>
          <p:cNvSpPr/>
          <p:nvPr/>
        </p:nvSpPr>
        <p:spPr>
          <a:xfrm>
            <a:off x="9525000" y="787400"/>
            <a:ext cx="482600" cy="63500"/>
          </a:xfrm>
          <a:prstGeom prst="roundRect">
            <a:avLst>
              <a:gd name="adj" fmla="val 50000"/>
            </a:avLst>
          </a:prstGeom>
          <a:solidFill>
            <a:srgbClr val="61E33D">
              <a:alpha val="9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8" name="s128"/>
          <p:cNvSpPr/>
          <p:nvPr/>
        </p:nvSpPr>
        <p:spPr>
          <a:xfrm>
            <a:off x="10160000" y="787400"/>
            <a:ext cx="482600" cy="63500"/>
          </a:xfrm>
          <a:prstGeom prst="roundRect">
            <a:avLst>
              <a:gd name="adj" fmla="val 50000"/>
            </a:avLst>
          </a:prstGeom>
          <a:solidFill>
            <a:srgbClr val="61E33D">
              <a:alpha val="9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9" name="s129"/>
          <p:cNvSpPr/>
          <p:nvPr/>
        </p:nvSpPr>
        <p:spPr>
          <a:xfrm>
            <a:off x="10795000" y="787400"/>
            <a:ext cx="482600" cy="63500"/>
          </a:xfrm>
          <a:prstGeom prst="roundRect">
            <a:avLst>
              <a:gd name="adj" fmla="val 50000"/>
            </a:avLst>
          </a:prstGeom>
          <a:solidFill>
            <a:srgbClr val="61E33D">
              <a:alpha val="9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30" name="s130"/>
          <p:cNvSpPr/>
          <p:nvPr/>
        </p:nvSpPr>
        <p:spPr>
          <a:xfrm>
            <a:off x="812800" y="482600"/>
            <a:ext cx="2540000" cy="355600"/>
          </a:xfrm>
          <a:prstGeom prst="roundRect">
            <a:avLst>
              <a:gd name="adj" fmla="val 50000"/>
            </a:avLst>
          </a:prstGeom>
          <a:solidFill>
            <a:srgbClr val="61E33D">
              <a:alpha val="12000"/>
            </a:srgbClr>
          </a:solidFill>
          <a:ln w="9525">
            <a:solidFill>
              <a:srgbClr val="61E33D">
                <a:alpha val="40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900" b="1" spc="70" dirty="0">
                <a:solidFill>
                  <a:srgbClr val="9BFF7A"/>
                </a:solidFill>
                <a:latin typeface="Poppins"/>
              </a:rPr>
              <a:t>SEMANA 4</a:t>
            </a:r>
          </a:p>
        </p:txBody>
      </p:sp>
      <p:sp>
        <p:nvSpPr>
          <p:cNvPr id="131" name="s131"/>
          <p:cNvSpPr/>
          <p:nvPr/>
        </p:nvSpPr>
        <p:spPr>
          <a:xfrm>
            <a:off x="812800" y="939800"/>
            <a:ext cx="105664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3000" b="1" dirty="0">
                <a:solidFill>
                  <a:srgbClr val="FFFFFF"/>
                </a:solidFill>
                <a:latin typeface="Poppins"/>
              </a:rPr>
              <a:t>Fecham o ciclo com </a:t>
            </a:r>
            <a:r>
              <a:rPr lang="pt-BR" sz="3000" b="1" dirty="0">
                <a:solidFill>
                  <a:srgbClr val="61E33D"/>
                </a:solidFill>
                <a:latin typeface="Poppins"/>
              </a:rPr>
              <a:t>quatro entregáveis cada</a:t>
            </a:r>
          </a:p>
        </p:txBody>
      </p:sp>
      <p:sp>
        <p:nvSpPr>
          <p:cNvPr id="132" name="s132"/>
          <p:cNvSpPr/>
          <p:nvPr/>
        </p:nvSpPr>
        <p:spPr>
          <a:xfrm>
            <a:off x="812800" y="16002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1300" dirty="0">
                <a:solidFill>
                  <a:srgbClr val="F0F7F3"/>
                </a:solidFill>
                <a:latin typeface="Aeonik"/>
              </a:rPr>
              <a:t>Consolidação de Fernanda em Crédito; Daniel inicia estruturação de Products Analytics.</a:t>
            </a:r>
          </a:p>
        </p:txBody>
      </p:sp>
      <p:sp>
        <p:nvSpPr>
          <p:cNvPr id="133" name="s133"/>
          <p:cNvSpPr/>
          <p:nvPr/>
        </p:nvSpPr>
        <p:spPr>
          <a:xfrm>
            <a:off x="812800" y="1981200"/>
            <a:ext cx="10566400" cy="12700"/>
          </a:xfrm>
          <a:prstGeom prst="rect">
            <a:avLst/>
          </a:prstGeom>
          <a:solidFill>
            <a:srgbClr val="9BE8A8">
              <a:alpha val="18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34" name="s134"/>
          <p:cNvSpPr/>
          <p:nvPr/>
        </p:nvSpPr>
        <p:spPr>
          <a:xfrm>
            <a:off x="812800" y="2184400"/>
            <a:ext cx="5003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1000" b="1" spc="30" dirty="0">
                <a:solidFill>
                  <a:srgbClr val="9BFF7A"/>
                </a:solidFill>
                <a:latin typeface="Poppins"/>
              </a:rPr>
              <a:t>FERNANDA · 4 ENTREGÁVEIS</a:t>
            </a:r>
          </a:p>
        </p:txBody>
      </p:sp>
      <p:sp>
        <p:nvSpPr>
          <p:cNvPr id="135" name="s135"/>
          <p:cNvSpPr/>
          <p:nvPr/>
        </p:nvSpPr>
        <p:spPr>
          <a:xfrm>
            <a:off x="812800" y="2540000"/>
            <a:ext cx="406400" cy="406400"/>
          </a:xfrm>
          <a:prstGeom prst="ellipse">
            <a:avLst/>
          </a:prstGeom>
          <a:solidFill>
            <a:srgbClr val="61E33D">
              <a:alpha val="14000"/>
            </a:srgbClr>
          </a:solidFill>
          <a:ln w="9525">
            <a:solidFill>
              <a:srgbClr val="61E33D">
                <a:alpha val="5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1200" b="1" dirty="0">
                <a:solidFill>
                  <a:srgbClr val="61E33D"/>
                </a:solidFill>
                <a:latin typeface="Poppins"/>
              </a:rPr>
              <a:t>1</a:t>
            </a:r>
          </a:p>
        </p:txBody>
      </p:sp>
      <p:sp>
        <p:nvSpPr>
          <p:cNvPr id="136" name="s136"/>
          <p:cNvSpPr/>
          <p:nvPr/>
        </p:nvSpPr>
        <p:spPr>
          <a:xfrm>
            <a:off x="1346200" y="2514600"/>
            <a:ext cx="4470400" cy="889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4" tIns="8" rIns="14" bIns="8" anchor="t">
            <a:noAutofit/>
          </a:bodyPr>
          <a:lstStyle/>
          <a:p>
            <a:pPr algn="l">
              <a:buNone/>
            </a:pPr>
            <a:r>
              <a:rPr lang="pt-BR" sz="1050" b="1" dirty="0">
                <a:solidFill>
                  <a:srgbClr val="FFFFFF"/>
                </a:solidFill>
                <a:latin typeface="Aeonik"/>
              </a:rPr>
              <a:t>Jornada de Crédito</a:t>
            </a:r>
          </a:p>
          <a:p>
            <a:pPr algn="l">
              <a:spcBef>
                <a:spcPts val="150"/>
              </a:spcBef>
              <a:buNone/>
            </a:pPr>
            <a:r>
              <a:rPr lang="pt-BR" sz="950" dirty="0">
                <a:solidFill>
                  <a:srgbClr val="F0F7F3"/>
                </a:solidFill>
                <a:latin typeface="Aeonik"/>
              </a:rPr>
              <a:t>Solicitação → Análise → Políticas → Limites → Aprovação/Reprovação → Formalização → Carteira → Cobrança</a:t>
            </a:r>
          </a:p>
        </p:txBody>
      </p:sp>
      <p:sp>
        <p:nvSpPr>
          <p:cNvPr id="137" name="s137"/>
          <p:cNvSpPr/>
          <p:nvPr/>
        </p:nvSpPr>
        <p:spPr>
          <a:xfrm>
            <a:off x="812800" y="3530600"/>
            <a:ext cx="406400" cy="406400"/>
          </a:xfrm>
          <a:prstGeom prst="ellipse">
            <a:avLst/>
          </a:prstGeom>
          <a:solidFill>
            <a:srgbClr val="61E33D">
              <a:alpha val="14000"/>
            </a:srgbClr>
          </a:solidFill>
          <a:ln w="9525">
            <a:solidFill>
              <a:srgbClr val="61E33D">
                <a:alpha val="5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1200" b="1" dirty="0">
                <a:solidFill>
                  <a:srgbClr val="61E33D"/>
                </a:solidFill>
                <a:latin typeface="Poppins"/>
              </a:rPr>
              <a:t>2</a:t>
            </a:r>
          </a:p>
        </p:txBody>
      </p:sp>
      <p:sp>
        <p:nvSpPr>
          <p:cNvPr id="138" name="s138"/>
          <p:cNvSpPr/>
          <p:nvPr/>
        </p:nvSpPr>
        <p:spPr>
          <a:xfrm>
            <a:off x="1346200" y="3505200"/>
            <a:ext cx="4470400" cy="889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4" tIns="8" rIns="14" bIns="8" anchor="t">
            <a:noAutofit/>
          </a:bodyPr>
          <a:lstStyle/>
          <a:p>
            <a:pPr algn="l">
              <a:buNone/>
            </a:pPr>
            <a:r>
              <a:rPr lang="pt-BR" sz="1050" b="1" dirty="0">
                <a:solidFill>
                  <a:srgbClr val="FFFFFF"/>
                </a:solidFill>
                <a:latin typeface="Aeonik"/>
              </a:rPr>
              <a:t>Mapa dos dados</a:t>
            </a:r>
          </a:p>
          <a:p>
            <a:pPr algn="l">
              <a:spcBef>
                <a:spcPts val="150"/>
              </a:spcBef>
              <a:buNone/>
            </a:pPr>
            <a:r>
              <a:rPr lang="pt-BR" sz="950" dirty="0">
                <a:solidFill>
                  <a:srgbClr val="F0F7F3"/>
                </a:solidFill>
                <a:latin typeface="Aeonik"/>
              </a:rPr>
              <a:t>Onde está, granularidade, chave, regra, definição, histórico, qualidade e especialista por etapa</a:t>
            </a:r>
          </a:p>
        </p:txBody>
      </p:sp>
      <p:sp>
        <p:nvSpPr>
          <p:cNvPr id="139" name="s139"/>
          <p:cNvSpPr/>
          <p:nvPr/>
        </p:nvSpPr>
        <p:spPr>
          <a:xfrm>
            <a:off x="812800" y="4521200"/>
            <a:ext cx="406400" cy="406400"/>
          </a:xfrm>
          <a:prstGeom prst="ellipse">
            <a:avLst/>
          </a:prstGeom>
          <a:solidFill>
            <a:srgbClr val="61E33D">
              <a:alpha val="14000"/>
            </a:srgbClr>
          </a:solidFill>
          <a:ln w="9525">
            <a:solidFill>
              <a:srgbClr val="61E33D">
                <a:alpha val="5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1200" b="1" dirty="0">
                <a:solidFill>
                  <a:srgbClr val="61E33D"/>
                </a:solidFill>
                <a:latin typeface="Poppins"/>
              </a:rPr>
              <a:t>3</a:t>
            </a:r>
          </a:p>
        </p:txBody>
      </p:sp>
      <p:sp>
        <p:nvSpPr>
          <p:cNvPr id="140" name="s140"/>
          <p:cNvSpPr/>
          <p:nvPr/>
        </p:nvSpPr>
        <p:spPr>
          <a:xfrm>
            <a:off x="1346200" y="4495800"/>
            <a:ext cx="4470400" cy="889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4" tIns="8" rIns="14" bIns="8" anchor="t">
            <a:noAutofit/>
          </a:bodyPr>
          <a:lstStyle/>
          <a:p>
            <a:pPr algn="l">
              <a:buNone/>
            </a:pPr>
            <a:r>
              <a:rPr lang="pt-BR" sz="1050" b="1" dirty="0">
                <a:solidFill>
                  <a:srgbClr val="FFFFFF"/>
                </a:solidFill>
                <a:latin typeface="Aeonik"/>
              </a:rPr>
              <a:t>Diagnóstico tabela-chave de solicitações</a:t>
            </a:r>
          </a:p>
          <a:p>
            <a:pPr algn="l">
              <a:spcBef>
                <a:spcPts val="150"/>
              </a:spcBef>
              <a:buNone/>
            </a:pPr>
            <a:r>
              <a:rPr lang="pt-BR" sz="950" dirty="0">
                <a:solidFill>
                  <a:srgbClr val="F0F7F3"/>
                </a:solidFill>
                <a:latin typeface="Aeonik"/>
              </a:rPr>
              <a:t>Estrutura atual, gaps, dúvidas e pontos que precisam de aprofundamento</a:t>
            </a:r>
          </a:p>
        </p:txBody>
      </p:sp>
      <p:sp>
        <p:nvSpPr>
          <p:cNvPr id="141" name="s141"/>
          <p:cNvSpPr/>
          <p:nvPr/>
        </p:nvSpPr>
        <p:spPr>
          <a:xfrm>
            <a:off x="812800" y="5511800"/>
            <a:ext cx="406400" cy="406400"/>
          </a:xfrm>
          <a:prstGeom prst="ellipse">
            <a:avLst/>
          </a:prstGeom>
          <a:solidFill>
            <a:srgbClr val="61E33D">
              <a:alpha val="14000"/>
            </a:srgbClr>
          </a:solidFill>
          <a:ln w="9525">
            <a:solidFill>
              <a:srgbClr val="61E33D">
                <a:alpha val="5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1200" b="1" dirty="0">
                <a:solidFill>
                  <a:srgbClr val="61E33D"/>
                </a:solidFill>
                <a:latin typeface="Poppins"/>
              </a:rPr>
              <a:t>4</a:t>
            </a:r>
          </a:p>
        </p:txBody>
      </p:sp>
      <p:sp>
        <p:nvSpPr>
          <p:cNvPr id="142" name="s142"/>
          <p:cNvSpPr/>
          <p:nvPr/>
        </p:nvSpPr>
        <p:spPr>
          <a:xfrm>
            <a:off x="1346200" y="5486400"/>
            <a:ext cx="4470400" cy="889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4" tIns="8" rIns="14" bIns="8" anchor="t">
            <a:noAutofit/>
          </a:bodyPr>
          <a:lstStyle/>
          <a:p>
            <a:pPr algn="l">
              <a:buNone/>
            </a:pPr>
            <a:r>
              <a:rPr lang="pt-BR" sz="1050" b="1" dirty="0">
                <a:solidFill>
                  <a:srgbClr val="FFFFFF"/>
                </a:solidFill>
                <a:latin typeface="Aeonik"/>
              </a:rPr>
              <a:t>Estudo Nutrien revisitado</a:t>
            </a:r>
          </a:p>
          <a:p>
            <a:pPr algn="l">
              <a:spcBef>
                <a:spcPts val="150"/>
              </a:spcBef>
              <a:buNone/>
            </a:pPr>
            <a:r>
              <a:rPr lang="pt-BR" sz="950" dirty="0">
                <a:solidFill>
                  <a:srgbClr val="F0F7F3"/>
                </a:solidFill>
                <a:latin typeface="Aeonik"/>
              </a:rPr>
              <a:t>Taxa de aprovação, visão faixa a faixa e percentual de arrendatário</a:t>
            </a:r>
          </a:p>
        </p:txBody>
      </p:sp>
      <p:sp>
        <p:nvSpPr>
          <p:cNvPr id="143" name="s143"/>
          <p:cNvSpPr/>
          <p:nvPr/>
        </p:nvSpPr>
        <p:spPr>
          <a:xfrm>
            <a:off x="6375400" y="2184400"/>
            <a:ext cx="5003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1000" b="1" spc="30" dirty="0">
                <a:solidFill>
                  <a:srgbClr val="9BFF7A"/>
                </a:solidFill>
                <a:latin typeface="Poppins"/>
              </a:rPr>
              <a:t>DANIEL · 4 ENTREGÁVEIS</a:t>
            </a:r>
          </a:p>
        </p:txBody>
      </p:sp>
      <p:sp>
        <p:nvSpPr>
          <p:cNvPr id="144" name="s144"/>
          <p:cNvSpPr/>
          <p:nvPr/>
        </p:nvSpPr>
        <p:spPr>
          <a:xfrm>
            <a:off x="6375400" y="2540000"/>
            <a:ext cx="406400" cy="406400"/>
          </a:xfrm>
          <a:prstGeom prst="ellipse">
            <a:avLst/>
          </a:prstGeom>
          <a:solidFill>
            <a:srgbClr val="61E33D">
              <a:alpha val="14000"/>
            </a:srgbClr>
          </a:solidFill>
          <a:ln w="9525">
            <a:solidFill>
              <a:srgbClr val="61E33D">
                <a:alpha val="5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1200" b="1" dirty="0">
                <a:solidFill>
                  <a:srgbClr val="61E33D"/>
                </a:solidFill>
                <a:latin typeface="Poppins"/>
              </a:rPr>
              <a:t>1</a:t>
            </a:r>
          </a:p>
        </p:txBody>
      </p:sp>
      <p:sp>
        <p:nvSpPr>
          <p:cNvPr id="145" name="s145"/>
          <p:cNvSpPr/>
          <p:nvPr/>
        </p:nvSpPr>
        <p:spPr>
          <a:xfrm>
            <a:off x="6908800" y="2514600"/>
            <a:ext cx="4470400" cy="889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4" tIns="8" rIns="14" bIns="8" anchor="t">
            <a:noAutofit/>
          </a:bodyPr>
          <a:lstStyle/>
          <a:p>
            <a:pPr algn="l">
              <a:buNone/>
            </a:pPr>
            <a:r>
              <a:rPr lang="pt-BR" sz="1050" b="1" dirty="0">
                <a:solidFill>
                  <a:srgbClr val="FFFFFF"/>
                </a:solidFill>
                <a:latin typeface="Aeonik"/>
              </a:rPr>
              <a:t>Design System (com Marcos)</a:t>
            </a:r>
          </a:p>
          <a:p>
            <a:pPr algn="l">
              <a:spcBef>
                <a:spcPts val="150"/>
              </a:spcBef>
              <a:buNone/>
            </a:pPr>
            <a:r>
              <a:rPr lang="pt-BR" sz="950" dirty="0">
                <a:solidFill>
                  <a:srgbClr val="F0F7F3"/>
                </a:solidFill>
                <a:latin typeface="Aeonik"/>
              </a:rPr>
              <a:t>Insumo: aprendizados da catalogação de dashboards</a:t>
            </a:r>
          </a:p>
        </p:txBody>
      </p:sp>
      <p:sp>
        <p:nvSpPr>
          <p:cNvPr id="146" name="s146"/>
          <p:cNvSpPr/>
          <p:nvPr/>
        </p:nvSpPr>
        <p:spPr>
          <a:xfrm>
            <a:off x="6375400" y="3530600"/>
            <a:ext cx="406400" cy="406400"/>
          </a:xfrm>
          <a:prstGeom prst="ellipse">
            <a:avLst/>
          </a:prstGeom>
          <a:solidFill>
            <a:srgbClr val="61E33D">
              <a:alpha val="14000"/>
            </a:srgbClr>
          </a:solidFill>
          <a:ln w="9525">
            <a:solidFill>
              <a:srgbClr val="61E33D">
                <a:alpha val="5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1200" b="1" dirty="0">
                <a:solidFill>
                  <a:srgbClr val="61E33D"/>
                </a:solidFill>
                <a:latin typeface="Poppins"/>
              </a:rPr>
              <a:t>2</a:t>
            </a:r>
          </a:p>
        </p:txBody>
      </p:sp>
      <p:sp>
        <p:nvSpPr>
          <p:cNvPr id="147" name="s147"/>
          <p:cNvSpPr/>
          <p:nvPr/>
        </p:nvSpPr>
        <p:spPr>
          <a:xfrm>
            <a:off x="6908800" y="3505200"/>
            <a:ext cx="4470400" cy="889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4" tIns="8" rIns="14" bIns="8" anchor="t">
            <a:noAutofit/>
          </a:bodyPr>
          <a:lstStyle/>
          <a:p>
            <a:pPr algn="l">
              <a:buNone/>
            </a:pPr>
            <a:r>
              <a:rPr lang="pt-BR" sz="1050" b="1" dirty="0">
                <a:solidFill>
                  <a:srgbClr val="FFFFFF"/>
                </a:solidFill>
                <a:latin typeface="Aeonik"/>
              </a:rPr>
              <a:t>Tabela-chave de portfólio</a:t>
            </a:r>
          </a:p>
          <a:p>
            <a:pPr algn="l">
              <a:spcBef>
                <a:spcPts val="150"/>
              </a:spcBef>
              <a:buNone/>
            </a:pPr>
            <a:r>
              <a:rPr lang="pt-BR" sz="950" dirty="0">
                <a:solidFill>
                  <a:srgbClr val="F0F7F3"/>
                </a:solidFill>
                <a:latin typeface="Aeonik"/>
              </a:rPr>
              <a:t>Onde está, granularidade, chaves, regras, histórico, definição e qualidade</a:t>
            </a:r>
          </a:p>
        </p:txBody>
      </p:sp>
      <p:sp>
        <p:nvSpPr>
          <p:cNvPr id="148" name="s148"/>
          <p:cNvSpPr/>
          <p:nvPr/>
        </p:nvSpPr>
        <p:spPr>
          <a:xfrm>
            <a:off x="6375400" y="4521200"/>
            <a:ext cx="406400" cy="406400"/>
          </a:xfrm>
          <a:prstGeom prst="ellipse">
            <a:avLst/>
          </a:prstGeom>
          <a:solidFill>
            <a:srgbClr val="61E33D">
              <a:alpha val="14000"/>
            </a:srgbClr>
          </a:solidFill>
          <a:ln w="9525">
            <a:solidFill>
              <a:srgbClr val="61E33D">
                <a:alpha val="5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1200" b="1" dirty="0">
                <a:solidFill>
                  <a:srgbClr val="61E33D"/>
                </a:solidFill>
                <a:latin typeface="Poppins"/>
              </a:rPr>
              <a:t>3</a:t>
            </a:r>
          </a:p>
        </p:txBody>
      </p:sp>
      <p:sp>
        <p:nvSpPr>
          <p:cNvPr id="149" name="s149"/>
          <p:cNvSpPr/>
          <p:nvPr/>
        </p:nvSpPr>
        <p:spPr>
          <a:xfrm>
            <a:off x="6908800" y="4495800"/>
            <a:ext cx="4470400" cy="889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4" tIns="8" rIns="14" bIns="8" anchor="t">
            <a:noAutofit/>
          </a:bodyPr>
          <a:lstStyle/>
          <a:p>
            <a:pPr algn="l">
              <a:buNone/>
            </a:pPr>
            <a:r>
              <a:rPr lang="pt-BR" sz="1050" b="1" dirty="0">
                <a:solidFill>
                  <a:srgbClr val="FFFFFF"/>
                </a:solidFill>
                <a:latin typeface="Aeonik"/>
              </a:rPr>
              <a:t>Inadimplência e maturação</a:t>
            </a:r>
          </a:p>
          <a:p>
            <a:pPr algn="l">
              <a:spcBef>
                <a:spcPts val="150"/>
              </a:spcBef>
              <a:buNone/>
            </a:pPr>
            <a:r>
              <a:rPr lang="pt-BR" sz="950" dirty="0">
                <a:solidFill>
                  <a:srgbClr val="F0F7F3"/>
                </a:solidFill>
                <a:latin typeface="Aeonik"/>
              </a:rPr>
              <a:t>Conceitos relacionados à tabela-chave e aos dashboards que os usam</a:t>
            </a:r>
          </a:p>
        </p:txBody>
      </p:sp>
      <p:sp>
        <p:nvSpPr>
          <p:cNvPr id="150" name="s150"/>
          <p:cNvSpPr/>
          <p:nvPr/>
        </p:nvSpPr>
        <p:spPr>
          <a:xfrm>
            <a:off x="6375400" y="5511800"/>
            <a:ext cx="406400" cy="406400"/>
          </a:xfrm>
          <a:prstGeom prst="ellipse">
            <a:avLst/>
          </a:prstGeom>
          <a:solidFill>
            <a:srgbClr val="61E33D">
              <a:alpha val="14000"/>
            </a:srgbClr>
          </a:solidFill>
          <a:ln w="9525">
            <a:solidFill>
              <a:srgbClr val="61E33D">
                <a:alpha val="5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1200" b="1" dirty="0">
                <a:solidFill>
                  <a:srgbClr val="61E33D"/>
                </a:solidFill>
                <a:latin typeface="Poppins"/>
              </a:rPr>
              <a:t>4</a:t>
            </a:r>
          </a:p>
        </p:txBody>
      </p:sp>
      <p:sp>
        <p:nvSpPr>
          <p:cNvPr id="151" name="s151"/>
          <p:cNvSpPr/>
          <p:nvPr/>
        </p:nvSpPr>
        <p:spPr>
          <a:xfrm>
            <a:off x="6908800" y="5486400"/>
            <a:ext cx="4470400" cy="889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4" tIns="8" rIns="14" bIns="8" anchor="t">
            <a:noAutofit/>
          </a:bodyPr>
          <a:lstStyle/>
          <a:p>
            <a:pPr algn="l">
              <a:buNone/>
            </a:pPr>
            <a:r>
              <a:rPr lang="pt-BR" sz="1050" b="1" dirty="0">
                <a:solidFill>
                  <a:srgbClr val="FFFFFF"/>
                </a:solidFill>
                <a:latin typeface="Aeonik"/>
              </a:rPr>
              <a:t>Documentação inicial</a:t>
            </a:r>
          </a:p>
          <a:p>
            <a:pPr algn="l">
              <a:spcBef>
                <a:spcPts val="150"/>
              </a:spcBef>
              <a:buNone/>
            </a:pPr>
            <a:r>
              <a:rPr lang="pt-BR" sz="950" dirty="0">
                <a:solidFill>
                  <a:srgbClr val="F0F7F3"/>
                </a:solidFill>
                <a:latin typeface="Aeonik"/>
              </a:rPr>
              <a:t>Entendimento consolidado da tabela-chave de portfólio</a:t>
            </a:r>
          </a:p>
        </p:txBody>
      </p:sp>
    </p:spTree>
    <p:extLst>
      <p:ext uri="{BB962C8B-B14F-4D97-AF65-F5344CB8AC3E}">
        <p14:creationId xmlns:p14="http://schemas.microsoft.com/office/powerpoint/2010/main" val="441941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558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1320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2" name="s102"/>
          <p:cNvSpPr/>
          <p:nvPr/>
        </p:nvSpPr>
        <p:spPr>
          <a:xfrm>
            <a:off x="2082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3" name="s103"/>
          <p:cNvSpPr/>
          <p:nvPr/>
        </p:nvSpPr>
        <p:spPr>
          <a:xfrm>
            <a:off x="2844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4" name="s104"/>
          <p:cNvSpPr/>
          <p:nvPr/>
        </p:nvSpPr>
        <p:spPr>
          <a:xfrm>
            <a:off x="3606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5" name="s105"/>
          <p:cNvSpPr/>
          <p:nvPr/>
        </p:nvSpPr>
        <p:spPr>
          <a:xfrm>
            <a:off x="4368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6" name="s106"/>
          <p:cNvSpPr/>
          <p:nvPr/>
        </p:nvSpPr>
        <p:spPr>
          <a:xfrm>
            <a:off x="5130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7" name="s107"/>
          <p:cNvSpPr/>
          <p:nvPr/>
        </p:nvSpPr>
        <p:spPr>
          <a:xfrm>
            <a:off x="5892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8" name="s108"/>
          <p:cNvSpPr/>
          <p:nvPr/>
        </p:nvSpPr>
        <p:spPr>
          <a:xfrm>
            <a:off x="6654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09" name="s109"/>
          <p:cNvSpPr/>
          <p:nvPr/>
        </p:nvSpPr>
        <p:spPr>
          <a:xfrm>
            <a:off x="7416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0" name="s110"/>
          <p:cNvSpPr/>
          <p:nvPr/>
        </p:nvSpPr>
        <p:spPr>
          <a:xfrm>
            <a:off x="8178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1" name="s111"/>
          <p:cNvSpPr/>
          <p:nvPr/>
        </p:nvSpPr>
        <p:spPr>
          <a:xfrm>
            <a:off x="8940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2" name="s112"/>
          <p:cNvSpPr/>
          <p:nvPr/>
        </p:nvSpPr>
        <p:spPr>
          <a:xfrm>
            <a:off x="9702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3" name="s113"/>
          <p:cNvSpPr/>
          <p:nvPr/>
        </p:nvSpPr>
        <p:spPr>
          <a:xfrm>
            <a:off x="10464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4" name="s114"/>
          <p:cNvSpPr/>
          <p:nvPr/>
        </p:nvSpPr>
        <p:spPr>
          <a:xfrm>
            <a:off x="11226800" y="457200"/>
            <a:ext cx="9525" cy="5943600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5" name="s115"/>
          <p:cNvSpPr/>
          <p:nvPr/>
        </p:nvSpPr>
        <p:spPr>
          <a:xfrm>
            <a:off x="558800" y="457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6" name="s116"/>
          <p:cNvSpPr/>
          <p:nvPr/>
        </p:nvSpPr>
        <p:spPr>
          <a:xfrm>
            <a:off x="558800" y="1219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7" name="s117"/>
          <p:cNvSpPr/>
          <p:nvPr/>
        </p:nvSpPr>
        <p:spPr>
          <a:xfrm>
            <a:off x="558800" y="1981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8" name="s118"/>
          <p:cNvSpPr/>
          <p:nvPr/>
        </p:nvSpPr>
        <p:spPr>
          <a:xfrm>
            <a:off x="558800" y="2743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19" name="s119"/>
          <p:cNvSpPr/>
          <p:nvPr/>
        </p:nvSpPr>
        <p:spPr>
          <a:xfrm>
            <a:off x="558800" y="3505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0" name="s120"/>
          <p:cNvSpPr/>
          <p:nvPr/>
        </p:nvSpPr>
        <p:spPr>
          <a:xfrm>
            <a:off x="558800" y="4267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1" name="s121"/>
          <p:cNvSpPr/>
          <p:nvPr/>
        </p:nvSpPr>
        <p:spPr>
          <a:xfrm>
            <a:off x="558800" y="5029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2" name="s122"/>
          <p:cNvSpPr/>
          <p:nvPr/>
        </p:nvSpPr>
        <p:spPr>
          <a:xfrm>
            <a:off x="558800" y="5791200"/>
            <a:ext cx="11125200" cy="9525"/>
          </a:xfrm>
          <a:prstGeom prst="rect">
            <a:avLst/>
          </a:prstGeom>
          <a:solidFill>
            <a:srgbClr val="9BE8A8">
              <a:alpha val="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3" name="s123"/>
          <p:cNvSpPr/>
          <p:nvPr/>
        </p:nvSpPr>
        <p:spPr>
          <a:xfrm>
            <a:off x="-1270000" y="-1016000"/>
            <a:ext cx="4826000" cy="4826000"/>
          </a:xfrm>
          <a:prstGeom prst="ellipse">
            <a:avLst/>
          </a:prstGeom>
          <a:gradFill>
            <a:gsLst>
              <a:gs pos="0">
                <a:srgbClr val="61E33D">
                  <a:alpha val="26000"/>
                </a:srgbClr>
              </a:gs>
              <a:gs pos="100000">
                <a:srgbClr val="61E33D">
                  <a:alpha val="0"/>
                </a:srgbClr>
              </a:gs>
            </a:gsLst>
            <a:path path="circle"/>
          </a:gradFill>
          <a:ln>
            <a:noFill/>
          </a:ln>
          <a:effectLst>
            <a:blur rad="457200"/>
          </a:effectLst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4" name="s124"/>
          <p:cNvSpPr/>
          <p:nvPr/>
        </p:nvSpPr>
        <p:spPr>
          <a:xfrm>
            <a:off x="558800" y="457200"/>
            <a:ext cx="50800" cy="5943600"/>
          </a:xfrm>
          <a:prstGeom prst="rect">
            <a:avLst/>
          </a:prstGeom>
          <a:gradFill>
            <a:gsLst>
              <a:gs pos="0">
                <a:srgbClr val="61E33D"/>
              </a:gs>
              <a:gs pos="100000">
                <a:srgbClr val="61E33D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5" name="s125"/>
          <p:cNvSpPr/>
          <p:nvPr/>
        </p:nvSpPr>
        <p:spPr>
          <a:xfrm>
            <a:off x="812800" y="482600"/>
            <a:ext cx="3556000" cy="355600"/>
          </a:xfrm>
          <a:prstGeom prst="roundRect">
            <a:avLst>
              <a:gd name="adj" fmla="val 50000"/>
            </a:avLst>
          </a:prstGeom>
          <a:solidFill>
            <a:srgbClr val="61E33D">
              <a:alpha val="12000"/>
            </a:srgbClr>
          </a:solidFill>
          <a:ln w="9525">
            <a:solidFill>
              <a:srgbClr val="61E33D">
                <a:alpha val="40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900" b="1" spc="70" dirty="0">
                <a:solidFill>
                  <a:srgbClr val="9BFF7A"/>
                </a:solidFill>
                <a:latin typeface="Poppins"/>
              </a:rPr>
              <a:t>RESULTADO ESPERADO</a:t>
            </a:r>
          </a:p>
        </p:txBody>
      </p:sp>
      <p:sp>
        <p:nvSpPr>
          <p:cNvPr id="126" name="s126"/>
          <p:cNvSpPr/>
          <p:nvPr/>
        </p:nvSpPr>
        <p:spPr>
          <a:xfrm>
            <a:off x="812800" y="939800"/>
            <a:ext cx="105664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2600" b="1" dirty="0">
                <a:solidFill>
                  <a:srgbClr val="FFFFFF"/>
                </a:solidFill>
                <a:latin typeface="Poppins"/>
              </a:rPr>
              <a:t>Ao final dos 30 dias, cada um explica </a:t>
            </a:r>
            <a:r>
              <a:rPr lang="pt-BR" sz="2600" b="1" dirty="0">
                <a:solidFill>
                  <a:srgbClr val="61E33D"/>
                </a:solidFill>
                <a:latin typeface="Poppins"/>
              </a:rPr>
              <a:t>o seu domínio</a:t>
            </a:r>
          </a:p>
        </p:txBody>
      </p:sp>
      <p:sp>
        <p:nvSpPr>
          <p:cNvPr id="127" name="s127"/>
          <p:cNvSpPr/>
          <p:nvPr/>
        </p:nvSpPr>
        <p:spPr>
          <a:xfrm>
            <a:off x="812800" y="1524000"/>
            <a:ext cx="10566400" cy="12700"/>
          </a:xfrm>
          <a:prstGeom prst="rect">
            <a:avLst/>
          </a:prstGeom>
          <a:solidFill>
            <a:srgbClr val="9BE8A8">
              <a:alpha val="18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28" name="s128"/>
          <p:cNvSpPr/>
          <p:nvPr/>
        </p:nvSpPr>
        <p:spPr>
          <a:xfrm>
            <a:off x="812800" y="1727200"/>
            <a:ext cx="5003800" cy="711200"/>
          </a:xfrm>
          <a:prstGeom prst="roundRect">
            <a:avLst>
              <a:gd name="adj" fmla="val 9000"/>
            </a:avLst>
          </a:prstGeom>
          <a:solidFill>
            <a:srgbClr val="61E33D">
              <a:alpha val="8000"/>
            </a:srgbClr>
          </a:solidFill>
          <a:ln w="9525">
            <a:solidFill>
              <a:srgbClr val="61E33D">
                <a:alpha val="30000"/>
              </a:srgbClr>
            </a:solidFill>
          </a:ln>
        </p:spPr>
        <p:txBody>
          <a:bodyPr wrap="square" lIns="16" tIns="10" rIns="16" bIns="10" anchor="t">
            <a:noAutofit/>
          </a:bodyPr>
          <a:lstStyle/>
          <a:p>
            <a:pPr algn="l">
              <a:buNone/>
            </a:pPr>
            <a:r>
              <a:rPr lang="pt-BR" sz="900" b="1" spc="20" dirty="0">
                <a:solidFill>
                  <a:srgbClr val="9BFF7A"/>
                </a:solidFill>
                <a:latin typeface="Poppins"/>
              </a:rPr>
              <a:t>FERNANDA explica:</a:t>
            </a:r>
          </a:p>
          <a:p>
            <a:pPr algn="l">
              <a:spcBef>
                <a:spcPts val="150"/>
              </a:spcBef>
              <a:buNone/>
            </a:pPr>
            <a:r>
              <a:rPr lang="pt-BR" sz="1050" dirty="0">
                <a:solidFill>
                  <a:srgbClr val="FFFFFF"/>
                </a:solidFill>
                <a:latin typeface="Aeonik"/>
              </a:rPr>
              <a:t>“Como funciona o crédito, onde estão os dados e como consigo analisá-los.”</a:t>
            </a:r>
          </a:p>
        </p:txBody>
      </p:sp>
      <p:sp>
        <p:nvSpPr>
          <p:cNvPr id="129" name="s129"/>
          <p:cNvSpPr/>
          <p:nvPr/>
        </p:nvSpPr>
        <p:spPr>
          <a:xfrm>
            <a:off x="812800" y="2540000"/>
            <a:ext cx="4470400" cy="5080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4" tIns="0" rIns="14" bIns="0" anchor="ctr">
            <a:noAutofit/>
          </a:bodyPr>
          <a:lstStyle/>
          <a:p>
            <a:pPr algn="l">
              <a:buNone/>
            </a:pPr>
            <a:r>
              <a:rPr lang="pt-BR" sz="1050" b="1" dirty="0">
                <a:solidFill>
                  <a:srgbClr val="61E33D"/>
                </a:solidFill>
                <a:latin typeface="Poppins"/>
              </a:rPr>
              <a:t>1.  </a:t>
            </a:r>
            <a:r>
              <a:rPr lang="pt-BR" sz="1050" dirty="0">
                <a:solidFill>
                  <a:srgbClr val="F0F7F3"/>
                </a:solidFill>
                <a:latin typeface="Aeonik"/>
              </a:rPr>
              <a:t>Fluxo de Crédito</a:t>
            </a:r>
          </a:p>
        </p:txBody>
      </p:sp>
      <p:sp>
        <p:nvSpPr>
          <p:cNvPr id="130" name="s130"/>
          <p:cNvSpPr/>
          <p:nvPr/>
        </p:nvSpPr>
        <p:spPr>
          <a:xfrm>
            <a:off x="812800" y="3149600"/>
            <a:ext cx="4470400" cy="5080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4" tIns="0" rIns="14" bIns="0" anchor="ctr">
            <a:noAutofit/>
          </a:bodyPr>
          <a:lstStyle/>
          <a:p>
            <a:pPr algn="l">
              <a:buNone/>
            </a:pPr>
            <a:r>
              <a:rPr lang="pt-BR" sz="1050" b="1" dirty="0">
                <a:solidFill>
                  <a:srgbClr val="61E33D"/>
                </a:solidFill>
                <a:latin typeface="Poppins"/>
              </a:rPr>
              <a:t>2.  </a:t>
            </a:r>
            <a:r>
              <a:rPr lang="pt-BR" sz="1050" dirty="0">
                <a:solidFill>
                  <a:srgbClr val="F0F7F3"/>
                </a:solidFill>
                <a:latin typeface="Aeonik"/>
              </a:rPr>
              <a:t>Mapa/Dicionário da tabela de solicitações</a:t>
            </a:r>
          </a:p>
        </p:txBody>
      </p:sp>
      <p:sp>
        <p:nvSpPr>
          <p:cNvPr id="131" name="s131"/>
          <p:cNvSpPr/>
          <p:nvPr/>
        </p:nvSpPr>
        <p:spPr>
          <a:xfrm>
            <a:off x="812800" y="3759200"/>
            <a:ext cx="4470400" cy="5080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4" tIns="0" rIns="14" bIns="0" anchor="ctr">
            <a:noAutofit/>
          </a:bodyPr>
          <a:lstStyle/>
          <a:p>
            <a:pPr algn="l">
              <a:buNone/>
            </a:pPr>
            <a:r>
              <a:rPr lang="pt-BR" sz="1050" b="1" dirty="0">
                <a:solidFill>
                  <a:srgbClr val="61E33D"/>
                </a:solidFill>
                <a:latin typeface="Poppins"/>
              </a:rPr>
              <a:t>3.  </a:t>
            </a:r>
            <a:r>
              <a:rPr lang="pt-BR" sz="1050" dirty="0">
                <a:solidFill>
                  <a:srgbClr val="F0F7F3"/>
                </a:solidFill>
                <a:latin typeface="Aeonik"/>
              </a:rPr>
              <a:t>Diagnóstico de gaps da tabela-chave</a:t>
            </a:r>
          </a:p>
        </p:txBody>
      </p:sp>
      <p:sp>
        <p:nvSpPr>
          <p:cNvPr id="132" name="s132"/>
          <p:cNvSpPr/>
          <p:nvPr/>
        </p:nvSpPr>
        <p:spPr>
          <a:xfrm>
            <a:off x="812800" y="4368800"/>
            <a:ext cx="4470400" cy="5080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4" tIns="0" rIns="14" bIns="0" anchor="ctr">
            <a:noAutofit/>
          </a:bodyPr>
          <a:lstStyle/>
          <a:p>
            <a:pPr algn="l">
              <a:buNone/>
            </a:pPr>
            <a:r>
              <a:rPr lang="pt-BR" sz="1050" b="1" dirty="0">
                <a:solidFill>
                  <a:srgbClr val="61E33D"/>
                </a:solidFill>
                <a:latin typeface="Poppins"/>
              </a:rPr>
              <a:t>4.  </a:t>
            </a:r>
            <a:r>
              <a:rPr lang="pt-BR" sz="1050" dirty="0">
                <a:solidFill>
                  <a:srgbClr val="F0F7F3"/>
                </a:solidFill>
                <a:latin typeface="Aeonik"/>
              </a:rPr>
              <a:t>Estudo de aprovação Nutrien revisado</a:t>
            </a:r>
          </a:p>
        </p:txBody>
      </p:sp>
      <p:sp>
        <p:nvSpPr>
          <p:cNvPr id="133" name="s133"/>
          <p:cNvSpPr/>
          <p:nvPr/>
        </p:nvSpPr>
        <p:spPr>
          <a:xfrm>
            <a:off x="6375400" y="1727200"/>
            <a:ext cx="5003800" cy="711200"/>
          </a:xfrm>
          <a:prstGeom prst="roundRect">
            <a:avLst>
              <a:gd name="adj" fmla="val 9000"/>
            </a:avLst>
          </a:prstGeom>
          <a:solidFill>
            <a:srgbClr val="61E33D">
              <a:alpha val="8000"/>
            </a:srgbClr>
          </a:solidFill>
          <a:ln w="9525">
            <a:solidFill>
              <a:srgbClr val="61E33D">
                <a:alpha val="30000"/>
              </a:srgbClr>
            </a:solidFill>
          </a:ln>
        </p:spPr>
        <p:txBody>
          <a:bodyPr wrap="square" lIns="16" tIns="10" rIns="16" bIns="10" anchor="t">
            <a:noAutofit/>
          </a:bodyPr>
          <a:lstStyle/>
          <a:p>
            <a:pPr algn="l">
              <a:buNone/>
            </a:pPr>
            <a:r>
              <a:rPr lang="pt-BR" sz="900" b="1" spc="20" dirty="0">
                <a:solidFill>
                  <a:srgbClr val="9BFF7A"/>
                </a:solidFill>
                <a:latin typeface="Poppins"/>
              </a:rPr>
              <a:t>DANIEL explica:</a:t>
            </a:r>
          </a:p>
          <a:p>
            <a:pPr algn="l">
              <a:spcBef>
                <a:spcPts val="150"/>
              </a:spcBef>
              <a:buNone/>
            </a:pPr>
            <a:r>
              <a:rPr lang="pt-BR" sz="1000" dirty="0">
                <a:solidFill>
                  <a:srgbClr val="FFFFFF"/>
                </a:solidFill>
                <a:latin typeface="Aeonik"/>
              </a:rPr>
              <a:t>“Quais produtos analíticos temos, para que servem, quem usa, de quais dados dependem e onde há possibilidades de reorganização.”</a:t>
            </a:r>
          </a:p>
        </p:txBody>
      </p:sp>
      <p:sp>
        <p:nvSpPr>
          <p:cNvPr id="134" name="s134"/>
          <p:cNvSpPr/>
          <p:nvPr/>
        </p:nvSpPr>
        <p:spPr>
          <a:xfrm>
            <a:off x="6375400" y="2616200"/>
            <a:ext cx="4470400" cy="5080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4" tIns="0" rIns="14" bIns="0" anchor="ctr">
            <a:noAutofit/>
          </a:bodyPr>
          <a:lstStyle/>
          <a:p>
            <a:pPr algn="l">
              <a:buNone/>
            </a:pPr>
            <a:r>
              <a:rPr lang="pt-BR" sz="1050" b="1" dirty="0">
                <a:solidFill>
                  <a:srgbClr val="61E33D"/>
                </a:solidFill>
                <a:latin typeface="Poppins"/>
              </a:rPr>
              <a:t>1.  </a:t>
            </a:r>
            <a:r>
              <a:rPr lang="pt-BR" sz="1050" dirty="0">
                <a:solidFill>
                  <a:srgbClr val="F0F7F3"/>
                </a:solidFill>
                <a:latin typeface="Aeonik"/>
              </a:rPr>
              <a:t>Catálogo de dashboards</a:t>
            </a:r>
          </a:p>
        </p:txBody>
      </p:sp>
      <p:sp>
        <p:nvSpPr>
          <p:cNvPr id="135" name="s135"/>
          <p:cNvSpPr/>
          <p:nvPr/>
        </p:nvSpPr>
        <p:spPr>
          <a:xfrm>
            <a:off x="6375400" y="3225800"/>
            <a:ext cx="4470400" cy="5080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4" tIns="0" rIns="14" bIns="0" anchor="ctr">
            <a:noAutofit/>
          </a:bodyPr>
          <a:lstStyle/>
          <a:p>
            <a:pPr algn="l">
              <a:buNone/>
            </a:pPr>
            <a:r>
              <a:rPr lang="pt-BR" sz="1050" b="1" dirty="0">
                <a:solidFill>
                  <a:srgbClr val="61E33D"/>
                </a:solidFill>
                <a:latin typeface="Poppins"/>
              </a:rPr>
              <a:t>2.  </a:t>
            </a:r>
            <a:r>
              <a:rPr lang="pt-BR" sz="1050" dirty="0">
                <a:solidFill>
                  <a:srgbClr val="F0F7F3"/>
                </a:solidFill>
                <a:latin typeface="Aeonik"/>
              </a:rPr>
              <a:t>Mapa de racionalização: manter/revisar/consolidar/descontinuar</a:t>
            </a:r>
          </a:p>
        </p:txBody>
      </p:sp>
      <p:sp>
        <p:nvSpPr>
          <p:cNvPr id="136" name="s136"/>
          <p:cNvSpPr/>
          <p:nvPr/>
        </p:nvSpPr>
        <p:spPr>
          <a:xfrm>
            <a:off x="6375400" y="3835400"/>
            <a:ext cx="4470400" cy="5080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4" tIns="0" rIns="14" bIns="0" anchor="ctr">
            <a:noAutofit/>
          </a:bodyPr>
          <a:lstStyle/>
          <a:p>
            <a:pPr algn="l">
              <a:buNone/>
            </a:pPr>
            <a:r>
              <a:rPr lang="pt-BR" sz="1050" b="1" dirty="0">
                <a:solidFill>
                  <a:srgbClr val="61E33D"/>
                </a:solidFill>
                <a:latin typeface="Poppins"/>
              </a:rPr>
              <a:t>3.  </a:t>
            </a:r>
            <a:r>
              <a:rPr lang="pt-BR" sz="1050" dirty="0">
                <a:solidFill>
                  <a:srgbClr val="F0F7F3"/>
                </a:solidFill>
                <a:latin typeface="Aeonik"/>
              </a:rPr>
              <a:t>1ª estrutura do novo Design System com Marcos</a:t>
            </a:r>
          </a:p>
        </p:txBody>
      </p:sp>
      <p:sp>
        <p:nvSpPr>
          <p:cNvPr id="137" name="s137"/>
          <p:cNvSpPr/>
          <p:nvPr/>
        </p:nvSpPr>
        <p:spPr>
          <a:xfrm>
            <a:off x="6375400" y="4445000"/>
            <a:ext cx="4470400" cy="5080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D8FFE6">
                  <a:alpha val="13000"/>
                </a:srgbClr>
              </a:gs>
              <a:gs pos="100000">
                <a:srgbClr val="052A20">
                  <a:alpha val="22000"/>
                </a:srgbClr>
              </a:gs>
            </a:gsLst>
            <a:lin ang="2700000" scaled="0"/>
          </a:gradFill>
          <a:ln w="9525">
            <a:solidFill>
              <a:srgbClr val="9BE8A8">
                <a:alpha val="22000"/>
              </a:srgbClr>
            </a:solidFill>
          </a:ln>
        </p:spPr>
        <p:txBody>
          <a:bodyPr wrap="square" lIns="14" tIns="0" rIns="14" bIns="0" anchor="ctr">
            <a:noAutofit/>
          </a:bodyPr>
          <a:lstStyle/>
          <a:p>
            <a:pPr algn="l">
              <a:buNone/>
            </a:pPr>
            <a:r>
              <a:rPr lang="pt-BR" sz="1050" b="1" dirty="0">
                <a:solidFill>
                  <a:srgbClr val="61E33D"/>
                </a:solidFill>
                <a:latin typeface="Poppins"/>
              </a:rPr>
              <a:t>4.  </a:t>
            </a:r>
            <a:r>
              <a:rPr lang="pt-BR" sz="1050" dirty="0">
                <a:solidFill>
                  <a:srgbClr val="F0F7F3"/>
                </a:solidFill>
                <a:latin typeface="Aeonik"/>
              </a:rPr>
              <a:t>Documentação inicial da tabela-chave de portfólio</a:t>
            </a:r>
          </a:p>
        </p:txBody>
      </p:sp>
      <p:sp>
        <p:nvSpPr>
          <p:cNvPr id="138" name="s138"/>
          <p:cNvSpPr/>
          <p:nvPr/>
        </p:nvSpPr>
        <p:spPr>
          <a:xfrm>
            <a:off x="812800" y="57404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BR" sz="850" b="1" spc="40" dirty="0">
                <a:solidFill>
                  <a:srgbClr val="E4EFE9"/>
                </a:solidFill>
                <a:latin typeface="Poppins"/>
              </a:rPr>
              <a:t>TRANSVERSAL — MAPA DE CONHECIMENTO, PREENCHIDO PELOS DOIS</a:t>
            </a:r>
          </a:p>
        </p:txBody>
      </p:sp>
      <p:sp>
        <p:nvSpPr>
          <p:cNvPr id="139" name="s139"/>
          <p:cNvSpPr/>
          <p:nvPr/>
        </p:nvSpPr>
        <p:spPr>
          <a:xfrm>
            <a:off x="812800" y="6019800"/>
            <a:ext cx="1219200" cy="381000"/>
          </a:xfrm>
          <a:prstGeom prst="roundRect">
            <a:avLst>
              <a:gd name="adj" fmla="val 40000"/>
            </a:avLst>
          </a:prstGeom>
          <a:solidFill>
            <a:srgbClr val="61E33D">
              <a:alpha val="12000"/>
            </a:srgbClr>
          </a:solidFill>
          <a:ln w="9525">
            <a:solidFill>
              <a:srgbClr val="61E33D">
                <a:alpha val="4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800" b="1" dirty="0">
                <a:solidFill>
                  <a:srgbClr val="F0F7F3"/>
                </a:solidFill>
                <a:latin typeface="Poppins"/>
              </a:rPr>
              <a:t>Assunto</a:t>
            </a:r>
          </a:p>
        </p:txBody>
      </p:sp>
      <p:sp>
        <p:nvSpPr>
          <p:cNvPr id="140" name="s140"/>
          <p:cNvSpPr/>
          <p:nvPr/>
        </p:nvSpPr>
        <p:spPr>
          <a:xfrm>
            <a:off x="2032000" y="6172200"/>
            <a:ext cx="101600" cy="25400"/>
          </a:xfrm>
          <a:prstGeom prst="rect">
            <a:avLst/>
          </a:prstGeom>
          <a:solidFill>
            <a:srgbClr val="61E33D">
              <a:alpha val="6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41" name="s141"/>
          <p:cNvSpPr/>
          <p:nvPr/>
        </p:nvSpPr>
        <p:spPr>
          <a:xfrm>
            <a:off x="2133600" y="6019800"/>
            <a:ext cx="1219200" cy="381000"/>
          </a:xfrm>
          <a:prstGeom prst="roundRect">
            <a:avLst>
              <a:gd name="adj" fmla="val 40000"/>
            </a:avLst>
          </a:prstGeom>
          <a:solidFill>
            <a:srgbClr val="61E33D">
              <a:alpha val="12000"/>
            </a:srgbClr>
          </a:solidFill>
          <a:ln w="9525">
            <a:solidFill>
              <a:srgbClr val="61E33D">
                <a:alpha val="4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800" b="1" dirty="0">
                <a:solidFill>
                  <a:srgbClr val="F0F7F3"/>
                </a:solidFill>
                <a:latin typeface="Poppins"/>
              </a:rPr>
              <a:t>Conceito</a:t>
            </a:r>
          </a:p>
        </p:txBody>
      </p:sp>
      <p:sp>
        <p:nvSpPr>
          <p:cNvPr id="142" name="s142"/>
          <p:cNvSpPr/>
          <p:nvPr/>
        </p:nvSpPr>
        <p:spPr>
          <a:xfrm>
            <a:off x="3352800" y="6172200"/>
            <a:ext cx="101600" cy="25400"/>
          </a:xfrm>
          <a:prstGeom prst="rect">
            <a:avLst/>
          </a:prstGeom>
          <a:solidFill>
            <a:srgbClr val="61E33D">
              <a:alpha val="6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43" name="s143"/>
          <p:cNvSpPr/>
          <p:nvPr/>
        </p:nvSpPr>
        <p:spPr>
          <a:xfrm>
            <a:off x="3454400" y="6019800"/>
            <a:ext cx="1219200" cy="381000"/>
          </a:xfrm>
          <a:prstGeom prst="roundRect">
            <a:avLst>
              <a:gd name="adj" fmla="val 40000"/>
            </a:avLst>
          </a:prstGeom>
          <a:solidFill>
            <a:srgbClr val="61E33D">
              <a:alpha val="12000"/>
            </a:srgbClr>
          </a:solidFill>
          <a:ln w="9525">
            <a:solidFill>
              <a:srgbClr val="61E33D">
                <a:alpha val="4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800" b="1" dirty="0">
                <a:solidFill>
                  <a:srgbClr val="F0F7F3"/>
                </a:solidFill>
                <a:latin typeface="Poppins"/>
              </a:rPr>
              <a:t>Processo</a:t>
            </a:r>
          </a:p>
        </p:txBody>
      </p:sp>
      <p:sp>
        <p:nvSpPr>
          <p:cNvPr id="144" name="s144"/>
          <p:cNvSpPr/>
          <p:nvPr/>
        </p:nvSpPr>
        <p:spPr>
          <a:xfrm>
            <a:off x="4673600" y="6172200"/>
            <a:ext cx="101600" cy="25400"/>
          </a:xfrm>
          <a:prstGeom prst="rect">
            <a:avLst/>
          </a:prstGeom>
          <a:solidFill>
            <a:srgbClr val="61E33D">
              <a:alpha val="6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45" name="s145"/>
          <p:cNvSpPr/>
          <p:nvPr/>
        </p:nvSpPr>
        <p:spPr>
          <a:xfrm>
            <a:off x="4775200" y="6019800"/>
            <a:ext cx="1219200" cy="381000"/>
          </a:xfrm>
          <a:prstGeom prst="roundRect">
            <a:avLst>
              <a:gd name="adj" fmla="val 40000"/>
            </a:avLst>
          </a:prstGeom>
          <a:solidFill>
            <a:srgbClr val="61E33D">
              <a:alpha val="12000"/>
            </a:srgbClr>
          </a:solidFill>
          <a:ln w="9525">
            <a:solidFill>
              <a:srgbClr val="61E33D">
                <a:alpha val="4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800" b="1" dirty="0">
                <a:solidFill>
                  <a:srgbClr val="F0F7F3"/>
                </a:solidFill>
                <a:latin typeface="Poppins"/>
              </a:rPr>
              <a:t>Dado/Tabela</a:t>
            </a:r>
          </a:p>
        </p:txBody>
      </p:sp>
      <p:sp>
        <p:nvSpPr>
          <p:cNvPr id="146" name="s146"/>
          <p:cNvSpPr/>
          <p:nvPr/>
        </p:nvSpPr>
        <p:spPr>
          <a:xfrm>
            <a:off x="5994400" y="6172200"/>
            <a:ext cx="101600" cy="25400"/>
          </a:xfrm>
          <a:prstGeom prst="rect">
            <a:avLst/>
          </a:prstGeom>
          <a:solidFill>
            <a:srgbClr val="61E33D">
              <a:alpha val="6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47" name="s147"/>
          <p:cNvSpPr/>
          <p:nvPr/>
        </p:nvSpPr>
        <p:spPr>
          <a:xfrm>
            <a:off x="6096000" y="6019800"/>
            <a:ext cx="1219200" cy="381000"/>
          </a:xfrm>
          <a:prstGeom prst="roundRect">
            <a:avLst>
              <a:gd name="adj" fmla="val 40000"/>
            </a:avLst>
          </a:prstGeom>
          <a:solidFill>
            <a:srgbClr val="61E33D">
              <a:alpha val="12000"/>
            </a:srgbClr>
          </a:solidFill>
          <a:ln w="9525">
            <a:solidFill>
              <a:srgbClr val="61E33D">
                <a:alpha val="4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800" b="1" dirty="0">
                <a:solidFill>
                  <a:srgbClr val="F0F7F3"/>
                </a:solidFill>
                <a:latin typeface="Poppins"/>
              </a:rPr>
              <a:t>Regra</a:t>
            </a:r>
          </a:p>
        </p:txBody>
      </p:sp>
      <p:sp>
        <p:nvSpPr>
          <p:cNvPr id="148" name="s148"/>
          <p:cNvSpPr/>
          <p:nvPr/>
        </p:nvSpPr>
        <p:spPr>
          <a:xfrm>
            <a:off x="7315200" y="6172200"/>
            <a:ext cx="101600" cy="25400"/>
          </a:xfrm>
          <a:prstGeom prst="rect">
            <a:avLst/>
          </a:prstGeom>
          <a:solidFill>
            <a:srgbClr val="61E33D">
              <a:alpha val="6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49" name="s149"/>
          <p:cNvSpPr/>
          <p:nvPr/>
        </p:nvSpPr>
        <p:spPr>
          <a:xfrm>
            <a:off x="7416800" y="6019800"/>
            <a:ext cx="1219200" cy="381000"/>
          </a:xfrm>
          <a:prstGeom prst="roundRect">
            <a:avLst>
              <a:gd name="adj" fmla="val 40000"/>
            </a:avLst>
          </a:prstGeom>
          <a:solidFill>
            <a:srgbClr val="61E33D">
              <a:alpha val="12000"/>
            </a:srgbClr>
          </a:solidFill>
          <a:ln w="9525">
            <a:solidFill>
              <a:srgbClr val="61E33D">
                <a:alpha val="4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800" b="1" dirty="0">
                <a:solidFill>
                  <a:srgbClr val="F0F7F3"/>
                </a:solidFill>
                <a:latin typeface="Poppins"/>
              </a:rPr>
              <a:t>Especialista</a:t>
            </a:r>
          </a:p>
        </p:txBody>
      </p:sp>
      <p:sp>
        <p:nvSpPr>
          <p:cNvPr id="150" name="s150"/>
          <p:cNvSpPr/>
          <p:nvPr/>
        </p:nvSpPr>
        <p:spPr>
          <a:xfrm>
            <a:off x="8636000" y="6172200"/>
            <a:ext cx="101600" cy="25400"/>
          </a:xfrm>
          <a:prstGeom prst="rect">
            <a:avLst/>
          </a:prstGeom>
          <a:solidFill>
            <a:srgbClr val="61E33D">
              <a:alpha val="6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51" name="s151"/>
          <p:cNvSpPr/>
          <p:nvPr/>
        </p:nvSpPr>
        <p:spPr>
          <a:xfrm>
            <a:off x="8737600" y="6019800"/>
            <a:ext cx="1219200" cy="381000"/>
          </a:xfrm>
          <a:prstGeom prst="roundRect">
            <a:avLst>
              <a:gd name="adj" fmla="val 40000"/>
            </a:avLst>
          </a:prstGeom>
          <a:solidFill>
            <a:srgbClr val="61E33D">
              <a:alpha val="12000"/>
            </a:srgbClr>
          </a:solidFill>
          <a:ln w="9525">
            <a:solidFill>
              <a:srgbClr val="61E33D">
                <a:alpha val="4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800" b="1" dirty="0">
                <a:solidFill>
                  <a:srgbClr val="F0F7F3"/>
                </a:solidFill>
                <a:latin typeface="Poppins"/>
              </a:rPr>
              <a:t>Material</a:t>
            </a:r>
          </a:p>
        </p:txBody>
      </p:sp>
      <p:sp>
        <p:nvSpPr>
          <p:cNvPr id="152" name="s152"/>
          <p:cNvSpPr/>
          <p:nvPr/>
        </p:nvSpPr>
        <p:spPr>
          <a:xfrm>
            <a:off x="9956800" y="6172200"/>
            <a:ext cx="101600" cy="25400"/>
          </a:xfrm>
          <a:prstGeom prst="rect">
            <a:avLst/>
          </a:prstGeom>
          <a:solidFill>
            <a:srgbClr val="61E33D">
              <a:alpha val="6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endParaRPr lang="pt-BR"/>
          </a:p>
        </p:txBody>
      </p:sp>
      <p:sp>
        <p:nvSpPr>
          <p:cNvPr id="153" name="s153"/>
          <p:cNvSpPr/>
          <p:nvPr/>
        </p:nvSpPr>
        <p:spPr>
          <a:xfrm>
            <a:off x="10058400" y="6019800"/>
            <a:ext cx="1219200" cy="381000"/>
          </a:xfrm>
          <a:prstGeom prst="roundRect">
            <a:avLst>
              <a:gd name="adj" fmla="val 40000"/>
            </a:avLst>
          </a:prstGeom>
          <a:solidFill>
            <a:srgbClr val="61E33D">
              <a:alpha val="22000"/>
            </a:srgbClr>
          </a:solidFill>
          <a:ln w="9525">
            <a:solidFill>
              <a:srgbClr val="61E33D">
                <a:alpha val="45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BR" sz="800" b="1" dirty="0">
                <a:solidFill>
                  <a:srgbClr val="9BFF7A"/>
                </a:solidFill>
                <a:latin typeface="Poppins"/>
              </a:rPr>
              <a:t>Dúvida/Gap</a:t>
            </a:r>
          </a:p>
        </p:txBody>
      </p:sp>
    </p:spTree>
    <p:extLst>
      <p:ext uri="{BB962C8B-B14F-4D97-AF65-F5344CB8AC3E}">
        <p14:creationId xmlns:p14="http://schemas.microsoft.com/office/powerpoint/2010/main" val="5676026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[1790962152576]">
  <a:themeElements>
    <a:clrScheme name="Office">
      <a:dk1>
        <a:srgbClr val="00231D"/>
      </a:dk1>
      <a:lt1>
        <a:srgbClr val="FFFFFF"/>
      </a:lt1>
      <a:dk2>
        <a:srgbClr val="0F4A31"/>
      </a:dk2>
      <a:lt2>
        <a:srgbClr val="E2FFD9"/>
      </a:lt2>
      <a:accent1>
        <a:srgbClr val="61E33D"/>
      </a:accent1>
      <a:accent2>
        <a:srgbClr val="9BFF7A"/>
      </a:accent2>
      <a:accent3>
        <a:srgbClr val="4F8406"/>
      </a:accent3>
      <a:accent4>
        <a:srgbClr val="9BE8A8"/>
      </a:accent4>
      <a:accent5>
        <a:srgbClr val="052A20"/>
      </a:accent5>
      <a:accent6>
        <a:srgbClr val="E4EFE9"/>
      </a:accent6>
      <a:hlink>
        <a:srgbClr val="467886"/>
      </a:hlink>
      <a:folHlink>
        <a:srgbClr val="96607D"/>
      </a:folHlink>
    </a:clrScheme>
    <a:fontScheme name="Office">
      <a:majorFont>
        <a:latin typeface="Poppi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eoni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1B0E3E9-1A2A-4BCE-8934-A95EDE8AA669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ccabfcae-147b-403f-a70e-f4d92fb3205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1163</Words>
  <Application>Microsoft Office PowerPoint</Application>
  <PresentationFormat>Widescreen</PresentationFormat>
  <Paragraphs>161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Aeonik</vt:lpstr>
      <vt:lpstr>Arial</vt:lpstr>
      <vt:lpstr>Poppins</vt:lpstr>
      <vt:lpstr>Tema do Office [1790962152576]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Batista</dc:creator>
  <cp:lastModifiedBy>Guilherme Batista</cp:lastModifiedBy>
  <cp:revision>2</cp:revision>
  <dcterms:created xsi:type="dcterms:W3CDTF">2026-10-02T17:29:12Z</dcterms:created>
  <dcterms:modified xsi:type="dcterms:W3CDTF">2026-10-02T17:57:25Z</dcterms:modified>
</cp:coreProperties>
</file>